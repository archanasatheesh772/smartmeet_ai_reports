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301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303" r:id="rId30"/>
    <p:sldId id="285" r:id="rId31"/>
    <p:sldId id="286" r:id="rId32"/>
    <p:sldId id="287" r:id="rId33"/>
    <p:sldId id="288" r:id="rId34"/>
    <p:sldId id="300" r:id="rId35"/>
    <p:sldId id="290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0722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9525">
            <a:solidFill>
              <a:srgbClr val="D6E2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SmartMeet AI  |  Interim 1 Review</a:t>
            </a:r>
            <a:endParaRPr lang="en-US" sz="10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530352"/>
            <a:ext cx="1109167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282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CONTENT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9525">
            <a:solidFill>
              <a:srgbClr val="1F4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SmartMeet AI  |  Interim 1 Review</a:t>
            </a:r>
            <a:endParaRPr lang="en-US" sz="10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530352"/>
            <a:ext cx="1109167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282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FB0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282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828800"/>
            <a:ext cx="7772400" cy="7772400"/>
          </a:xfrm>
          <a:prstGeom prst="ellipse">
            <a:avLst/>
          </a:prstGeom>
          <a:solidFill>
            <a:srgbClr val="0F2747">
              <a:alpha val="60000"/>
            </a:srgbClr>
          </a:solidFill>
          <a:ln w="6350">
            <a:solidFill>
              <a:srgbClr val="0F27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011680" y="4754880"/>
            <a:ext cx="4754880" cy="4754880"/>
          </a:xfrm>
          <a:prstGeom prst="ellipse">
            <a:avLst/>
          </a:prstGeom>
          <a:solidFill>
            <a:srgbClr val="0F2747">
              <a:alpha val="45000"/>
            </a:srgbClr>
          </a:solidFill>
          <a:ln w="6350">
            <a:solidFill>
              <a:srgbClr val="0F2747"/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640080" y="118872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SmartMeet AI</a:t>
            </a:r>
            <a:endParaRPr lang="en-US" sz="6800" dirty="0"/>
          </a:p>
        </p:txBody>
      </p:sp>
      <p:sp>
        <p:nvSpPr>
          <p:cNvPr id="49" name="Text 42"/>
          <p:cNvSpPr txBox="1"/>
          <p:nvPr/>
        </p:nvSpPr>
        <p:spPr>
          <a:xfrm>
            <a:off x="640080" y="246888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dirty="0">
                <a:solidFill>
                  <a:srgbClr val="BF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Video Conferencing Platform with Real-Time Transcription, Subtitle Generation and Multilingual PDF Export</a:t>
            </a:r>
            <a:endParaRPr lang="en-US" sz="2100" dirty="0"/>
          </a:p>
        </p:txBody>
      </p:sp>
      <p:sp>
        <p:nvSpPr>
          <p:cNvPr id="50" name="Shape 43"/>
          <p:cNvSpPr/>
          <p:nvPr/>
        </p:nvSpPr>
        <p:spPr>
          <a:xfrm>
            <a:off x="640080" y="4160520"/>
            <a:ext cx="5760720" cy="0"/>
          </a:xfrm>
          <a:prstGeom prst="line">
            <a:avLst/>
          </a:prstGeom>
          <a:noFill/>
          <a:ln w="12700">
            <a:solidFill>
              <a:srgbClr val="1F4E8C"/>
            </a:solidFill>
            <a:prstDash val="solid"/>
          </a:ln>
        </p:spPr>
      </p:sp>
      <p:sp>
        <p:nvSpPr>
          <p:cNvPr id="51" name="Text 44"/>
          <p:cNvSpPr txBox="1"/>
          <p:nvPr/>
        </p:nvSpPr>
        <p:spPr>
          <a:xfrm>
            <a:off x="640080" y="43891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52" name="Text 45"/>
          <p:cNvSpPr txBox="1"/>
          <p:nvPr/>
        </p:nvSpPr>
        <p:spPr>
          <a:xfrm>
            <a:off x="640080" y="46634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ARCHANA SATHEESH</a:t>
            </a:r>
            <a:endParaRPr lang="en-US" sz="16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300" dirty="0">
                <a:solidFill>
                  <a:srgbClr val="BF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NO: MLM25MCA-2022  </a:t>
            </a:r>
            <a:endParaRPr lang="en-US" sz="16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300" dirty="0">
                <a:solidFill>
                  <a:srgbClr val="BF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Mangalam College of Engineering Kottayam</a:t>
            </a:r>
            <a:endParaRPr lang="en-US" sz="16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300" dirty="0">
                <a:solidFill>
                  <a:srgbClr val="BF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2025–2027</a:t>
            </a:r>
            <a:endParaRPr lang="en-US" sz="1600" dirty="0"/>
          </a:p>
        </p:txBody>
      </p:sp>
      <p:sp>
        <p:nvSpPr>
          <p:cNvPr id="53" name="Text 46"/>
          <p:cNvSpPr txBox="1"/>
          <p:nvPr/>
        </p:nvSpPr>
        <p:spPr>
          <a:xfrm>
            <a:off x="5440680" y="438531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100" dirty="0"/>
          </a:p>
        </p:txBody>
      </p:sp>
      <p:sp>
        <p:nvSpPr>
          <p:cNvPr id="54" name="Text 47"/>
          <p:cNvSpPr txBox="1"/>
          <p:nvPr/>
        </p:nvSpPr>
        <p:spPr>
          <a:xfrm>
            <a:off x="5394960" y="46634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Ashwani Vijayachandran</a:t>
            </a:r>
            <a:endParaRPr lang="en-US" sz="16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300" dirty="0">
                <a:solidFill>
                  <a:srgbClr val="BF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300" dirty="0">
                <a:solidFill>
                  <a:srgbClr val="BF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Mangalam College Of Engineering Kottayam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53035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741466" y="1500162"/>
            <a:ext cx="310896" cy="310896"/>
          </a:xfrm>
          <a:prstGeom prst="ellipse">
            <a:avLst/>
          </a:prstGeom>
          <a:solidFill>
            <a:srgbClr val="E8F1FD"/>
          </a:solidFill>
          <a:ln w="6350">
            <a:solidFill>
              <a:srgbClr val="E8F1FD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408" y="1614004"/>
            <a:ext cx="143012" cy="1430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77440" y="1463040"/>
            <a:ext cx="59491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SmartMeet AI is an AI-based video conferencing system.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1741466" y="1993531"/>
            <a:ext cx="310896" cy="310896"/>
          </a:xfrm>
          <a:prstGeom prst="ellipse">
            <a:avLst/>
          </a:prstGeom>
          <a:solidFill>
            <a:srgbClr val="E8F1FD"/>
          </a:solidFill>
          <a:ln w="6350">
            <a:solidFill>
              <a:srgbClr val="E8F1FD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408" y="2089575"/>
            <a:ext cx="143012" cy="1430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19385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hold online meetings with audio and video.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1741466" y="2463676"/>
            <a:ext cx="310896" cy="310896"/>
          </a:xfrm>
          <a:prstGeom prst="ellipse">
            <a:avLst/>
          </a:prstGeom>
          <a:solidFill>
            <a:srgbClr val="E8F1FD"/>
          </a:solidFill>
          <a:ln w="6350">
            <a:solidFill>
              <a:srgbClr val="E8F1FD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207" y="2524110"/>
            <a:ext cx="143012" cy="14301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377440" y="240390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uses WebRTC for real-time communication.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1741466" y="3032730"/>
            <a:ext cx="310896" cy="310896"/>
          </a:xfrm>
          <a:prstGeom prst="ellipse">
            <a:avLst/>
          </a:prstGeom>
          <a:solidFill>
            <a:srgbClr val="E8F1FD"/>
          </a:solidFill>
          <a:ln w="6350">
            <a:solidFill>
              <a:srgbClr val="E8F1FD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408" y="3124322"/>
            <a:ext cx="143012" cy="14301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2377440" y="2862631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converts speech into text automatically.</a:t>
            </a:r>
            <a:endParaRPr lang="en-US" sz="1700" dirty="0"/>
          </a:p>
        </p:txBody>
      </p:sp>
      <p:sp>
        <p:nvSpPr>
          <p:cNvPr id="16" name="Shape 10"/>
          <p:cNvSpPr/>
          <p:nvPr/>
        </p:nvSpPr>
        <p:spPr>
          <a:xfrm>
            <a:off x="1741466" y="3460785"/>
            <a:ext cx="310896" cy="310896"/>
          </a:xfrm>
          <a:prstGeom prst="ellipse">
            <a:avLst/>
          </a:prstGeom>
          <a:solidFill>
            <a:srgbClr val="E8F1FD"/>
          </a:solidFill>
          <a:ln w="6350">
            <a:solidFill>
              <a:srgbClr val="E8F1FD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684" y="3616233"/>
            <a:ext cx="143012" cy="14301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2377440" y="3438423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provides subtitles/captions for recorded meetings.</a:t>
            </a:r>
            <a:endParaRPr lang="en-US" sz="1700" dirty="0"/>
          </a:p>
        </p:txBody>
      </p:sp>
      <p:sp>
        <p:nvSpPr>
          <p:cNvPr id="19" name="Shape 12"/>
          <p:cNvSpPr/>
          <p:nvPr/>
        </p:nvSpPr>
        <p:spPr>
          <a:xfrm>
            <a:off x="1744265" y="3975830"/>
            <a:ext cx="310896" cy="310896"/>
          </a:xfrm>
          <a:prstGeom prst="ellipse">
            <a:avLst/>
          </a:prstGeom>
          <a:solidFill>
            <a:srgbClr val="E8F1FD"/>
          </a:solidFill>
          <a:ln w="6350">
            <a:solidFill>
              <a:srgbClr val="E8F1FD"/>
            </a:solidFill>
            <a:prstDash val="solid"/>
          </a:ln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328" y="4040156"/>
            <a:ext cx="143012" cy="14301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2377440" y="3939162"/>
            <a:ext cx="61078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content can be translated into different languages.</a:t>
            </a:r>
            <a:endParaRPr lang="en-US" sz="1700" dirty="0"/>
          </a:p>
        </p:txBody>
      </p:sp>
      <p:sp>
        <p:nvSpPr>
          <p:cNvPr id="22" name="Shape 14"/>
          <p:cNvSpPr/>
          <p:nvPr/>
        </p:nvSpPr>
        <p:spPr>
          <a:xfrm>
            <a:off x="1741466" y="4581236"/>
            <a:ext cx="310896" cy="310896"/>
          </a:xfrm>
          <a:prstGeom prst="ellipse">
            <a:avLst/>
          </a:prstGeom>
          <a:solidFill>
            <a:srgbClr val="E8F1FD"/>
          </a:solidFill>
          <a:ln w="6350">
            <a:solidFill>
              <a:srgbClr val="E8F1FD"/>
            </a:solidFill>
            <a:prstDash val="solid"/>
          </a:ln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408" y="4690824"/>
            <a:ext cx="143012" cy="14301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2377440" y="451710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download the meeting transcript as a PDF.</a:t>
            </a:r>
            <a:endParaRPr lang="en-US" sz="1700" dirty="0"/>
          </a:p>
        </p:txBody>
      </p:sp>
      <p:sp>
        <p:nvSpPr>
          <p:cNvPr id="25" name="Shape 16"/>
          <p:cNvSpPr/>
          <p:nvPr/>
        </p:nvSpPr>
        <p:spPr>
          <a:xfrm>
            <a:off x="1693880" y="5104331"/>
            <a:ext cx="310896" cy="310896"/>
          </a:xfrm>
          <a:prstGeom prst="ellipse">
            <a:avLst/>
          </a:prstGeom>
          <a:solidFill>
            <a:srgbClr val="E8F1FD"/>
          </a:solidFill>
          <a:ln w="6350">
            <a:solidFill>
              <a:srgbClr val="E8F1FD"/>
            </a:solidFill>
            <a:prstDash val="solid"/>
          </a:ln>
        </p:spPr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667" y="5233216"/>
            <a:ext cx="143012" cy="143012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2377440" y="5066073"/>
            <a:ext cx="69662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helps make online meetings easy, accessible and organized.</a:t>
            </a:r>
            <a:endParaRPr lang="en-US" sz="1700" dirty="0"/>
          </a:p>
        </p:txBody>
      </p:sp>
      <p:sp>
        <p:nvSpPr>
          <p:cNvPr id="47" name="Text 33"/>
          <p:cNvSpPr txBox="1"/>
          <p:nvPr/>
        </p:nvSpPr>
        <p:spPr>
          <a:xfrm>
            <a:off x="6917156" y="4230575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1900" dirty="0"/>
          </a:p>
        </p:txBody>
      </p:sp>
      <p:sp>
        <p:nvSpPr>
          <p:cNvPr id="52" name="Text 37"/>
          <p:cNvSpPr txBox="1"/>
          <p:nvPr/>
        </p:nvSpPr>
        <p:spPr>
          <a:xfrm>
            <a:off x="7909560" y="522122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900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941D21A-9E01-59B5-7AD8-57CC6A890821}"/>
              </a:ext>
            </a:extLst>
          </p:cNvPr>
          <p:cNvSpPr/>
          <p:nvPr/>
        </p:nvSpPr>
        <p:spPr>
          <a:xfrm>
            <a:off x="548640" y="6513922"/>
            <a:ext cx="10588752" cy="1225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A1AC6-FAB1-2592-11E6-23C980A59598}"/>
              </a:ext>
            </a:extLst>
          </p:cNvPr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lang="en-IN" dirty="0"/>
              <a:t>ABSTRACT – SMARTMEET AI</a:t>
            </a:r>
            <a:br>
              <a:rPr lang="en-IN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0B737A-2BBD-FBC5-B4AD-50140D0A7883}"/>
              </a:ext>
            </a:extLst>
          </p:cNvPr>
          <p:cNvSpPr txBox="1"/>
          <p:nvPr/>
        </p:nvSpPr>
        <p:spPr>
          <a:xfrm>
            <a:off x="1362269" y="1436858"/>
            <a:ext cx="993710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000" dirty="0" err="1"/>
              <a:t>SmartMeet</a:t>
            </a:r>
            <a:r>
              <a:rPr lang="en-IN" sz="2000" dirty="0"/>
              <a:t> AI is an AI-powered web-based online meeting platform.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000" dirty="0"/>
              <a:t>It provides real-time audio and video communication using WebRTC.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000" dirty="0"/>
              <a:t>Users can create and join online meetings easily.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000" dirty="0"/>
              <a:t>Meetings can be recorded for post-meeting processing.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000" dirty="0"/>
              <a:t>Recorded audio is converted into text using Whisper speech recognition.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000" dirty="0"/>
              <a:t>The system generates automatic meeting summaries from the transcript.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000" dirty="0"/>
              <a:t>It provides automatic subtitle generation for recorded meetings.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000" dirty="0"/>
              <a:t>The transcript and summary can be translated into multiple languages.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000" dirty="0"/>
              <a:t>A PDF report containing meeting information and processed content can be generated.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000" dirty="0"/>
              <a:t>The system reduces manual effort in meeting documentation.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000" dirty="0" err="1"/>
              <a:t>SmartMeet</a:t>
            </a:r>
            <a:r>
              <a:rPr lang="en-IN" sz="2000" dirty="0"/>
              <a:t> AI provides a single platform for communication, recording, transcription, summarization, translation, and reporting.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310219-1CF3-C2EB-A2A1-6EA645205800}"/>
              </a:ext>
            </a:extLst>
          </p:cNvPr>
          <p:cNvSpPr/>
          <p:nvPr/>
        </p:nvSpPr>
        <p:spPr>
          <a:xfrm>
            <a:off x="548640" y="6513922"/>
            <a:ext cx="10588752" cy="1225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724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3957765" y="746666"/>
            <a:ext cx="377050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8DAC949-46EE-7707-E1B1-488F2FF0A3A9}"/>
              </a:ext>
            </a:extLst>
          </p:cNvPr>
          <p:cNvSpPr/>
          <p:nvPr/>
        </p:nvSpPr>
        <p:spPr>
          <a:xfrm>
            <a:off x="548640" y="6513922"/>
            <a:ext cx="10588752" cy="1225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D407DD-D50E-9CA3-5F85-53C7CD3BF708}"/>
              </a:ext>
            </a:extLst>
          </p:cNvPr>
          <p:cNvSpPr txBox="1"/>
          <p:nvPr/>
        </p:nvSpPr>
        <p:spPr>
          <a:xfrm>
            <a:off x="1066426" y="1749397"/>
            <a:ext cx="10291541" cy="203132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800" b="1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bg1"/>
                </a:solidFill>
              </a:rPr>
              <a:t>Limited subtitle support: </a:t>
            </a:r>
            <a:r>
              <a:rPr lang="en-IN" sz="1800" dirty="0">
                <a:solidFill>
                  <a:schemeClr val="bg1"/>
                </a:solidFill>
              </a:rPr>
              <a:t>Difficulty generating synchronized subtitles for meeting recordings.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bg1"/>
                </a:solidFill>
              </a:rPr>
              <a:t>Language barriers: </a:t>
            </a:r>
            <a:r>
              <a:rPr lang="en-IN" sz="1800" dirty="0">
                <a:solidFill>
                  <a:schemeClr val="bg1"/>
                </a:solidFill>
              </a:rPr>
              <a:t>Limited access to meeting content in users’ preferred languages.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bg1"/>
                </a:solidFill>
              </a:rPr>
              <a:t>Manual documentation: </a:t>
            </a:r>
            <a:r>
              <a:rPr lang="en-IN" sz="1800" dirty="0">
                <a:solidFill>
                  <a:schemeClr val="bg1"/>
                </a:solidFill>
              </a:rPr>
              <a:t>Reviewing long recordings and preparing meeting notes takes time.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bg1"/>
                </a:solidFill>
              </a:rPr>
              <a:t>Lack of report generation: </a:t>
            </a:r>
            <a:r>
              <a:rPr lang="en-IN" sz="1800" dirty="0">
                <a:solidFill>
                  <a:schemeClr val="bg1"/>
                </a:solidFill>
              </a:rPr>
              <a:t>No integrated option to generate downloadable PDF reports containing transcripts and summaries.</a:t>
            </a:r>
          </a:p>
          <a:p>
            <a:endParaRPr lang="en-IN" sz="1800" b="1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3BB7B9-CFB7-DBE9-09D3-05AFEE1E7697}"/>
              </a:ext>
            </a:extLst>
          </p:cNvPr>
          <p:cNvSpPr txBox="1"/>
          <p:nvPr/>
        </p:nvSpPr>
        <p:spPr>
          <a:xfrm>
            <a:off x="1362837" y="3957781"/>
            <a:ext cx="93630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Why It Matters</a:t>
            </a:r>
          </a:p>
          <a:p>
            <a:r>
              <a:rPr lang="en-IN" dirty="0"/>
              <a:t>Students, educators, and professionals spend significant time reviewing meeting recordings and preparing notes manually. </a:t>
            </a:r>
            <a:r>
              <a:rPr lang="en-IN" dirty="0" err="1"/>
              <a:t>SmartMeet</a:t>
            </a:r>
            <a:r>
              <a:rPr lang="en-IN" dirty="0"/>
              <a:t> AI addresses these challenges through automatic transcription, AI-based summarization, subtitle generation, translation, and PDF report generation in one platform.</a:t>
            </a:r>
          </a:p>
          <a:p>
            <a:endParaRPr lang="en-IN" dirty="0"/>
          </a:p>
        </p:txBody>
      </p:sp>
      <p:sp>
        <p:nvSpPr>
          <p:cNvPr id="19" name="Shape 23">
            <a:extLst>
              <a:ext uri="{FF2B5EF4-FFF2-40B4-BE49-F238E27FC236}">
                <a16:creationId xmlns:a16="http://schemas.microsoft.com/office/drawing/2014/main" id="{379E67CE-9CEB-03E9-D793-CDDDC9D9EC09}"/>
              </a:ext>
            </a:extLst>
          </p:cNvPr>
          <p:cNvSpPr/>
          <p:nvPr/>
        </p:nvSpPr>
        <p:spPr>
          <a:xfrm>
            <a:off x="1362838" y="3533092"/>
            <a:ext cx="9572640" cy="0"/>
          </a:xfrm>
          <a:prstGeom prst="line">
            <a:avLst/>
          </a:prstGeom>
          <a:noFill/>
          <a:ln w="6350">
            <a:solidFill>
              <a:srgbClr val="D6E2F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B34DAAF3-5FF6-593A-1291-E7D32EA47C95}"/>
              </a:ext>
            </a:extLst>
          </p:cNvPr>
          <p:cNvSpPr/>
          <p:nvPr/>
        </p:nvSpPr>
        <p:spPr>
          <a:xfrm flipV="1">
            <a:off x="1222310" y="1946886"/>
            <a:ext cx="9713167" cy="1"/>
          </a:xfrm>
          <a:prstGeom prst="line">
            <a:avLst/>
          </a:prstGeom>
          <a:noFill/>
          <a:ln w="6350">
            <a:solidFill>
              <a:srgbClr val="D6E2F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53035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926080" y="15544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664340" y="16596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Communication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664340" y="213055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seamless peer-to-peer video meetings using WebRTC technology.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679692" y="15544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endParaRPr lang="en-US" sz="3600" dirty="0"/>
          </a:p>
        </p:txBody>
      </p:sp>
      <p:sp>
        <p:nvSpPr>
          <p:cNvPr id="14" name="Text 10"/>
          <p:cNvSpPr txBox="1"/>
          <p:nvPr/>
        </p:nvSpPr>
        <p:spPr>
          <a:xfrm>
            <a:off x="4821237" y="172907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Recording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4480560" y="2064847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hosts to record meetings for later reference and review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10433304" y="15544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endParaRPr lang="en-US" sz="3600" dirty="0"/>
          </a:p>
        </p:txBody>
      </p:sp>
      <p:sp>
        <p:nvSpPr>
          <p:cNvPr id="20" name="Text 15"/>
          <p:cNvSpPr txBox="1"/>
          <p:nvPr/>
        </p:nvSpPr>
        <p:spPr>
          <a:xfrm>
            <a:off x="8878824" y="171162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Transcription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8330184" y="210769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recorded audio into accurate text using OpenAI Whisper.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2926080" y="40690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endParaRPr lang="en-US" sz="3600" dirty="0"/>
          </a:p>
        </p:txBody>
      </p:sp>
      <p:sp>
        <p:nvSpPr>
          <p:cNvPr id="26" name="Text 20"/>
          <p:cNvSpPr txBox="1"/>
          <p:nvPr/>
        </p:nvSpPr>
        <p:spPr>
          <a:xfrm>
            <a:off x="1009212" y="4171361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 Generation</a:t>
            </a:r>
            <a:endParaRPr lang="en-US" sz="1900" dirty="0"/>
          </a:p>
        </p:txBody>
      </p:sp>
      <p:sp>
        <p:nvSpPr>
          <p:cNvPr id="27" name="Text 21"/>
          <p:cNvSpPr txBox="1"/>
          <p:nvPr/>
        </p:nvSpPr>
        <p:spPr>
          <a:xfrm>
            <a:off x="664340" y="456514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subtitles synced with the recorded video timeline.</a:t>
            </a:r>
            <a:endParaRPr lang="en-US" sz="16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362" y="4358030"/>
            <a:ext cx="336499" cy="336499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679692" y="40690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endParaRPr lang="en-US" sz="3600" dirty="0"/>
          </a:p>
        </p:txBody>
      </p:sp>
      <p:sp>
        <p:nvSpPr>
          <p:cNvPr id="32" name="Text 25"/>
          <p:cNvSpPr txBox="1"/>
          <p:nvPr/>
        </p:nvSpPr>
        <p:spPr>
          <a:xfrm>
            <a:off x="4848559" y="418132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Export</a:t>
            </a:r>
            <a:endParaRPr lang="en-US" sz="1900" dirty="0"/>
          </a:p>
        </p:txBody>
      </p:sp>
      <p:sp>
        <p:nvSpPr>
          <p:cNvPr id="33" name="Text 26"/>
          <p:cNvSpPr txBox="1"/>
          <p:nvPr/>
        </p:nvSpPr>
        <p:spPr>
          <a:xfrm>
            <a:off x="4576572" y="4575525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transcripts and export them as formatted PDF documents.</a:t>
            </a:r>
            <a:endParaRPr lang="en-US" sz="160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1974" y="4358030"/>
            <a:ext cx="336499" cy="336499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433304" y="40690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endParaRPr lang="en-US" sz="3600" dirty="0"/>
          </a:p>
        </p:txBody>
      </p:sp>
      <p:sp>
        <p:nvSpPr>
          <p:cNvPr id="38" name="Text 30"/>
          <p:cNvSpPr txBox="1"/>
          <p:nvPr/>
        </p:nvSpPr>
        <p:spPr>
          <a:xfrm>
            <a:off x="8818473" y="4160519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Design</a:t>
            </a:r>
            <a:endParaRPr lang="en-US" sz="1900" dirty="0"/>
          </a:p>
        </p:txBody>
      </p:sp>
      <p:sp>
        <p:nvSpPr>
          <p:cNvPr id="39" name="Text 31"/>
          <p:cNvSpPr txBox="1"/>
          <p:nvPr/>
        </p:nvSpPr>
        <p:spPr>
          <a:xfrm>
            <a:off x="8531352" y="4516035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usability for students, educators and professionals alike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F5FA5FE-484B-7522-1A1C-B25F0A8C6493}"/>
              </a:ext>
            </a:extLst>
          </p:cNvPr>
          <p:cNvSpPr/>
          <p:nvPr/>
        </p:nvSpPr>
        <p:spPr>
          <a:xfrm>
            <a:off x="548640" y="6513922"/>
            <a:ext cx="10588752" cy="1225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hape 23">
            <a:extLst>
              <a:ext uri="{FF2B5EF4-FFF2-40B4-BE49-F238E27FC236}">
                <a16:creationId xmlns:a16="http://schemas.microsoft.com/office/drawing/2014/main" id="{AE24CA0D-6236-5FCD-C68A-E130B6D99BEB}"/>
              </a:ext>
            </a:extLst>
          </p:cNvPr>
          <p:cNvSpPr/>
          <p:nvPr/>
        </p:nvSpPr>
        <p:spPr>
          <a:xfrm>
            <a:off x="548640" y="2017240"/>
            <a:ext cx="2866364" cy="0"/>
          </a:xfrm>
          <a:prstGeom prst="line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Shape 23">
            <a:extLst>
              <a:ext uri="{FF2B5EF4-FFF2-40B4-BE49-F238E27FC236}">
                <a16:creationId xmlns:a16="http://schemas.microsoft.com/office/drawing/2014/main" id="{1204DE55-C30A-EACF-E416-33384F8C31EC}"/>
              </a:ext>
            </a:extLst>
          </p:cNvPr>
          <p:cNvSpPr/>
          <p:nvPr/>
        </p:nvSpPr>
        <p:spPr>
          <a:xfrm>
            <a:off x="4302656" y="2012847"/>
            <a:ext cx="2866364" cy="0"/>
          </a:xfrm>
          <a:prstGeom prst="line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Shape 23">
            <a:extLst>
              <a:ext uri="{FF2B5EF4-FFF2-40B4-BE49-F238E27FC236}">
                <a16:creationId xmlns:a16="http://schemas.microsoft.com/office/drawing/2014/main" id="{D1B19AAF-D787-4172-BC16-45DC5BD38AE0}"/>
              </a:ext>
            </a:extLst>
          </p:cNvPr>
          <p:cNvSpPr/>
          <p:nvPr/>
        </p:nvSpPr>
        <p:spPr>
          <a:xfrm>
            <a:off x="8174861" y="2012847"/>
            <a:ext cx="2866364" cy="0"/>
          </a:xfrm>
          <a:prstGeom prst="line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" name="Shape 23">
            <a:extLst>
              <a:ext uri="{FF2B5EF4-FFF2-40B4-BE49-F238E27FC236}">
                <a16:creationId xmlns:a16="http://schemas.microsoft.com/office/drawing/2014/main" id="{36C4610B-D3C1-7576-78A2-C7624AEAE7DA}"/>
              </a:ext>
            </a:extLst>
          </p:cNvPr>
          <p:cNvSpPr/>
          <p:nvPr/>
        </p:nvSpPr>
        <p:spPr>
          <a:xfrm>
            <a:off x="664340" y="4482257"/>
            <a:ext cx="2866364" cy="0"/>
          </a:xfrm>
          <a:prstGeom prst="line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2" name="Shape 23">
            <a:extLst>
              <a:ext uri="{FF2B5EF4-FFF2-40B4-BE49-F238E27FC236}">
                <a16:creationId xmlns:a16="http://schemas.microsoft.com/office/drawing/2014/main" id="{D1D52064-2587-21DD-2487-2D488937E2E2}"/>
              </a:ext>
            </a:extLst>
          </p:cNvPr>
          <p:cNvSpPr/>
          <p:nvPr/>
        </p:nvSpPr>
        <p:spPr>
          <a:xfrm>
            <a:off x="4405293" y="4512564"/>
            <a:ext cx="2866364" cy="0"/>
          </a:xfrm>
          <a:prstGeom prst="line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D9229BEF-4D87-B415-9B92-C6F38DB26264}"/>
              </a:ext>
            </a:extLst>
          </p:cNvPr>
          <p:cNvSpPr/>
          <p:nvPr/>
        </p:nvSpPr>
        <p:spPr>
          <a:xfrm>
            <a:off x="8330184" y="4482257"/>
            <a:ext cx="2866364" cy="0"/>
          </a:xfrm>
          <a:prstGeom prst="line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774721" y="425418"/>
            <a:ext cx="11091672" cy="987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dirty="0"/>
              <a:t>XISTING SYSTEM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4652" y="10198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10312" y="952374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6587" y="1470838"/>
            <a:ext cx="3584448" cy="370332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9525">
            <a:solidFill>
              <a:srgbClr val="D6E2F0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36893"/>
            <a:ext cx="3584448" cy="685800"/>
          </a:xfrm>
          <a:prstGeom prst="roundRect">
            <a:avLst>
              <a:gd name="adj" fmla="val 16000"/>
            </a:avLst>
          </a:prstGeom>
          <a:solidFill>
            <a:srgbClr val="0B1F3A"/>
          </a:solidFill>
          <a:ln w="635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 txBox="1"/>
          <p:nvPr/>
        </p:nvSpPr>
        <p:spPr>
          <a:xfrm>
            <a:off x="1531620" y="1556757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Meet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916266" y="2394384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video and screen share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01126" y="2973255"/>
            <a:ext cx="3035808" cy="0"/>
          </a:xfrm>
          <a:prstGeom prst="line">
            <a:avLst/>
          </a:prstGeom>
          <a:noFill/>
          <a:ln w="6350">
            <a:solidFill>
              <a:srgbClr val="D6E2F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" name="Text 11"/>
          <p:cNvSpPr txBox="1"/>
          <p:nvPr/>
        </p:nvSpPr>
        <p:spPr>
          <a:xfrm>
            <a:off x="1280160" y="3041657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cloud recording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22960" y="3580343"/>
            <a:ext cx="3035808" cy="0"/>
          </a:xfrm>
          <a:prstGeom prst="line">
            <a:avLst/>
          </a:prstGeom>
          <a:noFill/>
          <a:ln w="6350">
            <a:solidFill>
              <a:srgbClr val="D6E2F0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1239012" y="36654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transcript export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822960" y="5394960"/>
            <a:ext cx="3035808" cy="0"/>
          </a:xfrm>
          <a:prstGeom prst="line">
            <a:avLst/>
          </a:prstGeom>
          <a:noFill/>
          <a:ln w="6350">
            <a:solidFill>
              <a:srgbClr val="D6E2F0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1095600" y="4356175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subtitle sync for recordings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4261104" y="1657786"/>
            <a:ext cx="3584448" cy="370332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9525">
            <a:solidFill>
              <a:srgbClr val="D6E2F0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5" name="Shape 19"/>
          <p:cNvSpPr/>
          <p:nvPr/>
        </p:nvSpPr>
        <p:spPr>
          <a:xfrm>
            <a:off x="4302252" y="1583982"/>
            <a:ext cx="3584448" cy="685800"/>
          </a:xfrm>
          <a:prstGeom prst="roundRect">
            <a:avLst>
              <a:gd name="adj" fmla="val 16000"/>
            </a:avLst>
          </a:prstGeom>
          <a:solidFill>
            <a:srgbClr val="0B1F3A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589876" y="1600885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</a:t>
            </a:r>
            <a:endParaRPr lang="en-US" sz="2200" dirty="0"/>
          </a:p>
        </p:txBody>
      </p:sp>
      <p:sp>
        <p:nvSpPr>
          <p:cNvPr id="29" name="Text 22"/>
          <p:cNvSpPr txBox="1"/>
          <p:nvPr/>
        </p:nvSpPr>
        <p:spPr>
          <a:xfrm>
            <a:off x="4745736" y="2379836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video conferencing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4480467" y="2973255"/>
            <a:ext cx="3035808" cy="0"/>
          </a:xfrm>
          <a:prstGeom prst="line">
            <a:avLst/>
          </a:prstGeom>
          <a:noFill/>
          <a:ln w="6350">
            <a:solidFill>
              <a:srgbClr val="D6E2F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3" name="Text 25"/>
          <p:cNvSpPr txBox="1"/>
          <p:nvPr/>
        </p:nvSpPr>
        <p:spPr>
          <a:xfrm>
            <a:off x="4818795" y="307171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recording available</a:t>
            </a:r>
            <a:endParaRPr lang="en-US" sz="1500" dirty="0"/>
          </a:p>
        </p:txBody>
      </p:sp>
      <p:sp>
        <p:nvSpPr>
          <p:cNvPr id="34" name="Shape 26"/>
          <p:cNvSpPr/>
          <p:nvPr/>
        </p:nvSpPr>
        <p:spPr>
          <a:xfrm>
            <a:off x="4407408" y="3665400"/>
            <a:ext cx="3035808" cy="0"/>
          </a:xfrm>
          <a:prstGeom prst="line">
            <a:avLst/>
          </a:prstGeom>
          <a:noFill/>
          <a:ln w="6350">
            <a:solidFill>
              <a:srgbClr val="D6E2F0"/>
            </a:solidFill>
            <a:prstDash val="solid"/>
          </a:ln>
        </p:spPr>
      </p:sp>
      <p:sp>
        <p:nvSpPr>
          <p:cNvPr id="37" name="Text 28"/>
          <p:cNvSpPr txBox="1"/>
          <p:nvPr/>
        </p:nvSpPr>
        <p:spPr>
          <a:xfrm>
            <a:off x="4816182" y="369925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Auto-captions in limited plans</a:t>
            </a:r>
            <a:endParaRPr lang="en-US" sz="1500" dirty="0"/>
          </a:p>
        </p:txBody>
      </p:sp>
      <p:sp>
        <p:nvSpPr>
          <p:cNvPr id="38" name="Shape 29"/>
          <p:cNvSpPr/>
          <p:nvPr/>
        </p:nvSpPr>
        <p:spPr>
          <a:xfrm>
            <a:off x="4576572" y="5394960"/>
            <a:ext cx="3035808" cy="0"/>
          </a:xfrm>
          <a:prstGeom prst="line">
            <a:avLst/>
          </a:prstGeom>
          <a:noFill/>
          <a:ln w="6350">
            <a:solidFill>
              <a:srgbClr val="D6E2F0"/>
            </a:solidFill>
            <a:prstDash val="solid"/>
          </a:ln>
        </p:spPr>
      </p:sp>
      <p:sp>
        <p:nvSpPr>
          <p:cNvPr id="41" name="Text 31"/>
          <p:cNvSpPr txBox="1"/>
          <p:nvPr/>
        </p:nvSpPr>
        <p:spPr>
          <a:xfrm>
            <a:off x="4882710" y="4348345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multilingual PDF export</a:t>
            </a:r>
            <a:endParaRPr lang="en-US" sz="1500" dirty="0"/>
          </a:p>
        </p:txBody>
      </p:sp>
      <p:sp>
        <p:nvSpPr>
          <p:cNvPr id="42" name="Shape 32"/>
          <p:cNvSpPr/>
          <p:nvPr/>
        </p:nvSpPr>
        <p:spPr>
          <a:xfrm>
            <a:off x="8071353" y="1571321"/>
            <a:ext cx="3584448" cy="370332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9525">
            <a:solidFill>
              <a:srgbClr val="D6E2F0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43" name="Shape 33"/>
          <p:cNvSpPr/>
          <p:nvPr/>
        </p:nvSpPr>
        <p:spPr>
          <a:xfrm>
            <a:off x="8087588" y="1620689"/>
            <a:ext cx="3584448" cy="685800"/>
          </a:xfrm>
          <a:prstGeom prst="roundRect">
            <a:avLst>
              <a:gd name="adj" fmla="val 16000"/>
            </a:avLst>
          </a:prstGeom>
          <a:solidFill>
            <a:srgbClr val="0B1F3A"/>
          </a:solidFill>
          <a:ln w="635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4" name="Text 34"/>
          <p:cNvSpPr txBox="1"/>
          <p:nvPr/>
        </p:nvSpPr>
        <p:spPr>
          <a:xfrm>
            <a:off x="8748195" y="1547523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</a:t>
            </a:r>
            <a:endParaRPr lang="en-US" sz="2200" dirty="0"/>
          </a:p>
        </p:txBody>
      </p:sp>
      <p:sp>
        <p:nvSpPr>
          <p:cNvPr id="47" name="Text 36"/>
          <p:cNvSpPr txBox="1"/>
          <p:nvPr/>
        </p:nvSpPr>
        <p:spPr>
          <a:xfrm>
            <a:off x="8738958" y="246838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meetings</a:t>
            </a:r>
            <a:endParaRPr lang="en-US" sz="1500" dirty="0"/>
          </a:p>
        </p:txBody>
      </p:sp>
      <p:sp>
        <p:nvSpPr>
          <p:cNvPr id="48" name="Shape 37"/>
          <p:cNvSpPr/>
          <p:nvPr/>
        </p:nvSpPr>
        <p:spPr>
          <a:xfrm>
            <a:off x="8302752" y="3041657"/>
            <a:ext cx="3035808" cy="0"/>
          </a:xfrm>
          <a:prstGeom prst="line">
            <a:avLst/>
          </a:prstGeom>
          <a:noFill/>
          <a:ln w="6350">
            <a:solidFill>
              <a:srgbClr val="D6E2F0"/>
            </a:solidFill>
            <a:prstDash val="solid"/>
          </a:ln>
        </p:spPr>
      </p:sp>
      <p:sp>
        <p:nvSpPr>
          <p:cNvPr id="51" name="Text 39"/>
          <p:cNvSpPr txBox="1"/>
          <p:nvPr/>
        </p:nvSpPr>
        <p:spPr>
          <a:xfrm>
            <a:off x="8851392" y="3009384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with transcript</a:t>
            </a:r>
            <a:endParaRPr lang="en-US" sz="1500" dirty="0"/>
          </a:p>
        </p:txBody>
      </p:sp>
      <p:sp>
        <p:nvSpPr>
          <p:cNvPr id="52" name="Shape 40"/>
          <p:cNvSpPr/>
          <p:nvPr/>
        </p:nvSpPr>
        <p:spPr>
          <a:xfrm>
            <a:off x="8330184" y="3723092"/>
            <a:ext cx="3035808" cy="0"/>
          </a:xfrm>
          <a:prstGeom prst="line">
            <a:avLst/>
          </a:prstGeom>
          <a:noFill/>
          <a:ln w="6350">
            <a:solidFill>
              <a:srgbClr val="D6E2F0"/>
            </a:solidFill>
            <a:prstDash val="solid"/>
          </a:ln>
        </p:spPr>
      </p:sp>
      <p:sp>
        <p:nvSpPr>
          <p:cNvPr id="55" name="Text 42"/>
          <p:cNvSpPr txBox="1"/>
          <p:nvPr/>
        </p:nvSpPr>
        <p:spPr>
          <a:xfrm>
            <a:off x="8631936" y="3716374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tied to MS ecosystem</a:t>
            </a:r>
            <a:endParaRPr lang="en-US" sz="1500" dirty="0"/>
          </a:p>
        </p:txBody>
      </p:sp>
      <p:sp>
        <p:nvSpPr>
          <p:cNvPr id="56" name="Shape 43"/>
          <p:cNvSpPr/>
          <p:nvPr/>
        </p:nvSpPr>
        <p:spPr>
          <a:xfrm>
            <a:off x="8330184" y="5394960"/>
            <a:ext cx="3035808" cy="0"/>
          </a:xfrm>
          <a:prstGeom prst="line">
            <a:avLst/>
          </a:prstGeom>
          <a:noFill/>
          <a:ln w="6350">
            <a:solidFill>
              <a:srgbClr val="D6E2F0"/>
            </a:solidFill>
            <a:prstDash val="solid"/>
          </a:ln>
        </p:spPr>
      </p:sp>
      <p:sp>
        <p:nvSpPr>
          <p:cNvPr id="59" name="Text 45"/>
          <p:cNvSpPr txBox="1"/>
          <p:nvPr/>
        </p:nvSpPr>
        <p:spPr>
          <a:xfrm>
            <a:off x="8668512" y="4356175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translated document export</a:t>
            </a:r>
            <a:endParaRPr lang="en-US" sz="15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4839450-9A09-EAA3-7C14-56559F1F8706}"/>
              </a:ext>
            </a:extLst>
          </p:cNvPr>
          <p:cNvSpPr/>
          <p:nvPr/>
        </p:nvSpPr>
        <p:spPr>
          <a:xfrm>
            <a:off x="548640" y="6513922"/>
            <a:ext cx="10588752" cy="1225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AF4C4340-59E9-507B-3107-F374CA3DA73E}"/>
              </a:ext>
            </a:extLst>
          </p:cNvPr>
          <p:cNvSpPr/>
          <p:nvPr/>
        </p:nvSpPr>
        <p:spPr>
          <a:xfrm>
            <a:off x="757272" y="4187952"/>
            <a:ext cx="3035808" cy="0"/>
          </a:xfrm>
          <a:prstGeom prst="line">
            <a:avLst/>
          </a:prstGeom>
          <a:noFill/>
          <a:ln w="6350">
            <a:solidFill>
              <a:srgbClr val="D6E2F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E21563E5-1413-4679-ECF9-427101E15943}"/>
              </a:ext>
            </a:extLst>
          </p:cNvPr>
          <p:cNvSpPr/>
          <p:nvPr/>
        </p:nvSpPr>
        <p:spPr>
          <a:xfrm>
            <a:off x="4576572" y="4214040"/>
            <a:ext cx="3035808" cy="0"/>
          </a:xfrm>
          <a:prstGeom prst="line">
            <a:avLst/>
          </a:prstGeom>
          <a:noFill/>
          <a:ln w="6350">
            <a:solidFill>
              <a:srgbClr val="D6E2F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8" name="Shape 9">
            <a:extLst>
              <a:ext uri="{FF2B5EF4-FFF2-40B4-BE49-F238E27FC236}">
                <a16:creationId xmlns:a16="http://schemas.microsoft.com/office/drawing/2014/main" id="{6EA3464B-F902-D53F-4BEF-A9C2F06C24B1}"/>
              </a:ext>
            </a:extLst>
          </p:cNvPr>
          <p:cNvSpPr/>
          <p:nvPr/>
        </p:nvSpPr>
        <p:spPr>
          <a:xfrm>
            <a:off x="8400630" y="4274245"/>
            <a:ext cx="3035808" cy="0"/>
          </a:xfrm>
          <a:prstGeom prst="line">
            <a:avLst/>
          </a:prstGeom>
          <a:noFill/>
          <a:ln w="6350">
            <a:solidFill>
              <a:srgbClr val="D6E2F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804672" y="792543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04672" y="1805287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BF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SmartMeet AI unifies real-time video conferencing with an AI-driven post-meeting pipeline  recording, transcription, subtitle sync, translation and PDF export in a single platform.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77240" y="3017520"/>
            <a:ext cx="1417320" cy="1828800"/>
          </a:xfrm>
          <a:prstGeom prst="roundRect">
            <a:avLst>
              <a:gd name="adj" fmla="val 6452"/>
            </a:avLst>
          </a:prstGeom>
          <a:solidFill>
            <a:srgbClr val="16385F"/>
          </a:solidFill>
          <a:ln w="9525">
            <a:solidFill>
              <a:srgbClr val="2A5C9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05256" y="3579223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Meeting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23543" y="4046220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F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 video call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249424" y="3931920"/>
            <a:ext cx="316382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620670" y="3017520"/>
            <a:ext cx="1417320" cy="1828800"/>
          </a:xfrm>
          <a:prstGeom prst="roundRect">
            <a:avLst>
              <a:gd name="adj" fmla="val 6452"/>
            </a:avLst>
          </a:prstGeom>
          <a:solidFill>
            <a:srgbClr val="16385F"/>
          </a:solidFill>
          <a:ln w="9525">
            <a:solidFill>
              <a:srgbClr val="2A5C9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715767" y="3611879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2693822" y="4114798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F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captured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092854" y="3931920"/>
            <a:ext cx="316382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4464101" y="3017520"/>
            <a:ext cx="1417320" cy="1828800"/>
          </a:xfrm>
          <a:prstGeom prst="roundRect">
            <a:avLst>
              <a:gd name="adj" fmla="val 6452"/>
            </a:avLst>
          </a:prstGeom>
          <a:solidFill>
            <a:srgbClr val="16385F"/>
          </a:solidFill>
          <a:ln w="9525">
            <a:solidFill>
              <a:srgbClr val="2A5C9A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4482388" y="3675980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Transcription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4537253" y="4201668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F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ASR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5936285" y="3931920"/>
            <a:ext cx="316382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6307531" y="3017520"/>
            <a:ext cx="1417320" cy="1828800"/>
          </a:xfrm>
          <a:prstGeom prst="roundRect">
            <a:avLst>
              <a:gd name="adj" fmla="val 6452"/>
            </a:avLst>
          </a:prstGeom>
          <a:solidFill>
            <a:srgbClr val="16385F"/>
          </a:solidFill>
          <a:ln w="9525">
            <a:solidFill>
              <a:srgbClr val="2A5C9A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6402628" y="3697722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 Generation</a:t>
            </a:r>
            <a:endParaRPr lang="en-US" sz="1400" dirty="0"/>
          </a:p>
        </p:txBody>
      </p:sp>
      <p:sp>
        <p:nvSpPr>
          <p:cNvPr id="33" name="Text 27"/>
          <p:cNvSpPr txBox="1"/>
          <p:nvPr/>
        </p:nvSpPr>
        <p:spPr>
          <a:xfrm>
            <a:off x="6380683" y="4233672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F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Synced to video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7779715" y="3931920"/>
            <a:ext cx="316382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5" name="Shape 29"/>
          <p:cNvSpPr/>
          <p:nvPr/>
        </p:nvSpPr>
        <p:spPr>
          <a:xfrm>
            <a:off x="8150962" y="3017520"/>
            <a:ext cx="1417320" cy="1828800"/>
          </a:xfrm>
          <a:prstGeom prst="roundRect">
            <a:avLst>
              <a:gd name="adj" fmla="val 6452"/>
            </a:avLst>
          </a:prstGeom>
          <a:solidFill>
            <a:srgbClr val="16385F"/>
          </a:solidFill>
          <a:ln w="9525">
            <a:solidFill>
              <a:srgbClr val="2A5C9A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8205217" y="3703691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1400" dirty="0"/>
          </a:p>
        </p:txBody>
      </p:sp>
      <p:sp>
        <p:nvSpPr>
          <p:cNvPr id="40" name="Text 33"/>
          <p:cNvSpPr txBox="1"/>
          <p:nvPr/>
        </p:nvSpPr>
        <p:spPr>
          <a:xfrm>
            <a:off x="8224114" y="4154922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F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Translate API</a:t>
            </a:r>
            <a:endParaRPr lang="en-US" sz="1200" dirty="0"/>
          </a:p>
        </p:txBody>
      </p:sp>
      <p:sp>
        <p:nvSpPr>
          <p:cNvPr id="41" name="Shape 34"/>
          <p:cNvSpPr/>
          <p:nvPr/>
        </p:nvSpPr>
        <p:spPr>
          <a:xfrm>
            <a:off x="9623146" y="3931920"/>
            <a:ext cx="316382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42" name="Shape 35"/>
          <p:cNvSpPr/>
          <p:nvPr/>
        </p:nvSpPr>
        <p:spPr>
          <a:xfrm>
            <a:off x="9994392" y="3017520"/>
            <a:ext cx="1417320" cy="1828800"/>
          </a:xfrm>
          <a:prstGeom prst="roundRect">
            <a:avLst>
              <a:gd name="adj" fmla="val 6452"/>
            </a:avLst>
          </a:prstGeom>
          <a:solidFill>
            <a:srgbClr val="16385F"/>
          </a:solidFill>
          <a:ln w="9525">
            <a:solidFill>
              <a:srgbClr val="2A5C9A"/>
            </a:solidFill>
            <a:prstDash val="solid"/>
          </a:ln>
        </p:spPr>
      </p:sp>
      <p:sp>
        <p:nvSpPr>
          <p:cNvPr id="46" name="Text 38"/>
          <p:cNvSpPr txBox="1"/>
          <p:nvPr/>
        </p:nvSpPr>
        <p:spPr>
          <a:xfrm>
            <a:off x="10067544" y="3744468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</a:t>
            </a:r>
            <a:endParaRPr lang="en-US" sz="1400" dirty="0"/>
          </a:p>
        </p:txBody>
      </p:sp>
      <p:sp>
        <p:nvSpPr>
          <p:cNvPr id="47" name="Text 39"/>
          <p:cNvSpPr txBox="1"/>
          <p:nvPr/>
        </p:nvSpPr>
        <p:spPr>
          <a:xfrm>
            <a:off x="10067544" y="4091939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F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document</a:t>
            </a:r>
            <a:endParaRPr lang="en-US" sz="1200" dirty="0"/>
          </a:p>
        </p:txBody>
      </p:sp>
      <p:sp>
        <p:nvSpPr>
          <p:cNvPr id="52" name="Text 44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BF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Django (backend) and HTML, CSS, JavaScript (frontend), combining communication, accessibility and intelligent data processing in one workflow.</a:t>
            </a:r>
            <a:endParaRPr lang="en-US" sz="15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B05E7B4-15E7-89D1-F573-C468113B7581}"/>
              </a:ext>
            </a:extLst>
          </p:cNvPr>
          <p:cNvSpPr/>
          <p:nvPr/>
        </p:nvSpPr>
        <p:spPr>
          <a:xfrm>
            <a:off x="548640" y="6513922"/>
            <a:ext cx="10588752" cy="12254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53035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40680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9525">
            <a:solidFill>
              <a:srgbClr val="D6E2F0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54480"/>
            <a:ext cx="1554480" cy="36576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6350">
            <a:solidFill>
              <a:srgbClr val="E7F6E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1417320" y="2148840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video meetings via WebRTC (audio, video, screen share)</a:t>
            </a:r>
            <a:endParaRPr lang="en-US" sz="15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41" y="3038185"/>
            <a:ext cx="159837" cy="15983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2816352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Host-controlled session recording</a:t>
            </a:r>
            <a:endParaRPr lang="en-US" sz="15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41" y="3705697"/>
            <a:ext cx="159837" cy="15983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3483864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transcription of recorded audio (Whisper)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417320" y="4151376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subtitle generation synced to recorded video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1417320" y="4818888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selection and transcript translation (Google Translate API)</a:t>
            </a:r>
            <a:endParaRPr lang="en-US" sz="1500" dirty="0"/>
          </a:p>
        </p:txBody>
      </p:sp>
      <p:sp>
        <p:nvSpPr>
          <p:cNvPr id="23" name="Text 15"/>
          <p:cNvSpPr txBox="1"/>
          <p:nvPr/>
        </p:nvSpPr>
        <p:spPr>
          <a:xfrm>
            <a:off x="1417320" y="5486400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of translated transcript as a formatted PDF</a:t>
            </a:r>
            <a:endParaRPr lang="en-US" sz="1500" dirty="0"/>
          </a:p>
        </p:txBody>
      </p:sp>
      <p:sp>
        <p:nvSpPr>
          <p:cNvPr id="24" name="Shape 16"/>
          <p:cNvSpPr/>
          <p:nvPr/>
        </p:nvSpPr>
        <p:spPr>
          <a:xfrm>
            <a:off x="6199632" y="1325880"/>
            <a:ext cx="5440680" cy="4892040"/>
          </a:xfrm>
          <a:prstGeom prst="roundRect">
            <a:avLst>
              <a:gd name="adj" fmla="val 2243"/>
            </a:avLst>
          </a:prstGeom>
          <a:solidFill>
            <a:srgbClr val="EEF3F9"/>
          </a:solidFill>
          <a:ln w="9525">
            <a:solidFill>
              <a:srgbClr val="D6E2F0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6352654" y="1474562"/>
            <a:ext cx="3200400" cy="36576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6350">
            <a:solidFill>
              <a:srgbClr val="DCE5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8" name="Text 19"/>
          <p:cNvSpPr txBox="1"/>
          <p:nvPr/>
        </p:nvSpPr>
        <p:spPr>
          <a:xfrm>
            <a:off x="7068312" y="2148840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applications (iOS / Android)</a:t>
            </a:r>
            <a:endParaRPr lang="en-US" sz="1500" dirty="0"/>
          </a:p>
        </p:txBody>
      </p:sp>
      <p:sp>
        <p:nvSpPr>
          <p:cNvPr id="31" name="Text 21"/>
          <p:cNvSpPr txBox="1"/>
          <p:nvPr/>
        </p:nvSpPr>
        <p:spPr>
          <a:xfrm>
            <a:off x="7068312" y="2816352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more than a limited set of concurrent participants</a:t>
            </a:r>
            <a:endParaRPr lang="en-US" sz="1500" dirty="0"/>
          </a:p>
        </p:txBody>
      </p:sp>
      <p:sp>
        <p:nvSpPr>
          <p:cNvPr id="34" name="Text 23"/>
          <p:cNvSpPr txBox="1"/>
          <p:nvPr/>
        </p:nvSpPr>
        <p:spPr>
          <a:xfrm>
            <a:off x="7068312" y="3483864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/ on-device transcription without internet access</a:t>
            </a:r>
            <a:endParaRPr lang="en-US" sz="1500" dirty="0"/>
          </a:p>
        </p:txBody>
      </p:sp>
      <p:sp>
        <p:nvSpPr>
          <p:cNvPr id="37" name="Text 25"/>
          <p:cNvSpPr txBox="1"/>
          <p:nvPr/>
        </p:nvSpPr>
        <p:spPr>
          <a:xfrm>
            <a:off x="7068312" y="4151376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(live) subtitle overlay during an ongoing meeting</a:t>
            </a:r>
            <a:endParaRPr lang="en-US" sz="1500" dirty="0"/>
          </a:p>
        </p:txBody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633" y="5040721"/>
            <a:ext cx="159837" cy="159837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7068312" y="4818888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SSO and admin governance features</a:t>
            </a:r>
            <a:endParaRPr lang="en-US" sz="15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5B576E0-B689-88BA-02A0-205A61E02C31}"/>
              </a:ext>
            </a:extLst>
          </p:cNvPr>
          <p:cNvSpPr/>
          <p:nvPr/>
        </p:nvSpPr>
        <p:spPr>
          <a:xfrm>
            <a:off x="548640" y="6513922"/>
            <a:ext cx="10588752" cy="1225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326571" y="69193"/>
            <a:ext cx="36034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5334" y="548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972010"/>
              </p:ext>
            </p:extLst>
          </p:nvPr>
        </p:nvGraphicFramePr>
        <p:xfrm>
          <a:off x="326571" y="682752"/>
          <a:ext cx="11387144" cy="5643880"/>
        </p:xfrm>
        <a:graphic>
          <a:graphicData uri="http://schemas.openxmlformats.org/drawingml/2006/table">
            <a:tbl>
              <a:tblPr/>
              <a:tblGrid>
                <a:gridCol w="2206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05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28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9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50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934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77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/ Year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 / Publication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 / 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 / Methodology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Metric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Results / Findings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828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Whisper-Based Speech Transcription from Videos (2026)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Michael Picheny, arXiv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OpenAI Whisper &amp; WhisperX ASR Pipelines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Multilingual speech processing, YouTube data pipelines, and out-of-the-box acoustic transcription.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Word Error Rate (WER), Language Error Breakdown</a:t>
                      </a:r>
                    </a:p>
                  </a:txBody>
                  <a:tcPr marT="60960" marB="6096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Achieved high accuracy speech-to-text conversion across various noise levels.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4375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Subtitle-Aligned Fine-Tuning of Whisper for ASR (2026)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Felix Akeret, arXiv</a:t>
                      </a:r>
                    </a:p>
                  </a:txBody>
                  <a:tcPr marT="60960" marB="6096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Whisper Large-V3 Transformer</a:t>
                      </a:r>
                    </a:p>
                  </a:txBody>
                  <a:tcPr marT="60960" marB="6096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Subtitle-aligned audio processing, sequence decoding, and timestamp matching.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Character WER (cWER), Processing Latency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Improved precision for timestamp segmentation and subtitle track alignment.</a:t>
                      </a:r>
                    </a:p>
                  </a:txBody>
                  <a:tcPr marT="60960" marB="6096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7711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AI-Powered Meeting Assistant for Transcription &amp; Summarization (2026)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IRJET</a:t>
                      </a:r>
                    </a:p>
                  </a:txBody>
                  <a:tcPr marT="60960" marB="6096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OpenAI Whisper + NLP Processing</a:t>
                      </a:r>
                    </a:p>
                  </a:txBody>
                  <a:tcPr marT="60960" marB="6096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Automated audio transcription, text segmentation, and structured document formatting.</a:t>
                      </a:r>
                    </a:p>
                  </a:txBody>
                  <a:tcPr marT="60960" marB="6096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WER, Transcription Accuracy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Demonstrated high transcription accuracy and automated meeting documentation.</a:t>
                      </a:r>
                    </a:p>
                  </a:txBody>
                  <a:tcPr marT="60960" marB="6096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0655113"/>
                  </a:ext>
                </a:extLst>
              </a:tr>
              <a:tr h="934375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Speech Translation and Metrics: Findings of IWSLT (2026)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David I. Adelani et al., ACL / IWSLT</a:t>
                      </a:r>
                    </a:p>
                  </a:txBody>
                  <a:tcPr marT="60960" marB="6096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Neural Machine Translation (NMT)</a:t>
                      </a:r>
                    </a:p>
                  </a:txBody>
                  <a:tcPr marT="60960" marB="6096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Offline and simultaneous speech translation across multilingual contexts.</a:t>
                      </a:r>
                    </a:p>
                  </a:txBody>
                  <a:tcPr marT="60960" marB="6096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Translation Quality, BLEU Scores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Established benchmark accuracy for cross-lingual automated text translation.</a:t>
                      </a:r>
                    </a:p>
                  </a:txBody>
                  <a:tcPr marT="60960" marB="6096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3937536"/>
                  </a:ext>
                </a:extLst>
              </a:tr>
              <a:tr h="934375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400" b="1" dirty="0">
                          <a:effectLst/>
                          <a:latin typeface="Google Sans Text"/>
                        </a:rPr>
                        <a:t>Scalable Subtitle-Aligned Pipelines for Archival Systems (2026)</a:t>
                      </a:r>
                      <a:endParaRPr lang="en-IN" sz="1400" dirty="0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effectLst/>
                          <a:latin typeface="Google Sans Text"/>
                        </a:rPr>
                        <a:t>Independent Research, arXiv</a:t>
                      </a:r>
                    </a:p>
                  </a:txBody>
                  <a:tcPr marT="60960" marB="6096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effectLst/>
                          <a:latin typeface="Google Sans Text"/>
                        </a:rPr>
                        <a:t>Subtitle Generation &amp; Formatted PDF Export</a:t>
                      </a:r>
                    </a:p>
                  </a:txBody>
                  <a:tcPr marT="60960" marB="6096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effectLst/>
                          <a:latin typeface="Google Sans Text"/>
                        </a:rPr>
                        <a:t>Automated subtitle track creation, segmentation, and structured document export.</a:t>
                      </a:r>
                    </a:p>
                  </a:txBody>
                  <a:tcPr marT="60960" marB="6096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effectLst/>
                          <a:latin typeface="Google Sans Text"/>
                        </a:rPr>
                        <a:t>Processing Throughput, Formatting Precision</a:t>
                      </a:r>
                    </a:p>
                  </a:txBody>
                  <a:tcPr marT="60960" marB="6096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400" dirty="0">
                          <a:effectLst/>
                          <a:latin typeface="Google Sans Text"/>
                        </a:rPr>
                        <a:t>Proved effective for generating structured, printable transcripts and exported files.</a:t>
                      </a:r>
                    </a:p>
                  </a:txBody>
                  <a:tcPr marT="60960" marB="6096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6718862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FE81075-D914-9198-0C6A-E1266183E13A}"/>
              </a:ext>
            </a:extLst>
          </p:cNvPr>
          <p:cNvSpPr/>
          <p:nvPr/>
        </p:nvSpPr>
        <p:spPr>
          <a:xfrm>
            <a:off x="548640" y="6513922"/>
            <a:ext cx="10588752" cy="1225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53035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84448" cy="2286000"/>
          </a:xfrm>
          <a:prstGeom prst="roundRect">
            <a:avLst>
              <a:gd name="adj" fmla="val 5600"/>
            </a:avLst>
          </a:prstGeom>
          <a:solidFill>
            <a:srgbClr val="0B1F3A"/>
          </a:solidFill>
          <a:ln w="9525">
            <a:solidFill>
              <a:srgbClr val="1F4E8C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68680" y="175266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</a:t>
            </a:r>
            <a:endParaRPr 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BF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meeting UI and controls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02252" y="1371600"/>
            <a:ext cx="3584448" cy="2286000"/>
          </a:xfrm>
          <a:prstGeom prst="roundRect">
            <a:avLst>
              <a:gd name="adj" fmla="val 5600"/>
            </a:avLst>
          </a:prstGeom>
          <a:solidFill>
            <a:srgbClr val="0B1F3A"/>
          </a:solidFill>
          <a:ln w="9525">
            <a:solidFill>
              <a:srgbClr val="1F4E8C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4622292" y="1794277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622292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Django</a:t>
            </a:r>
            <a:endParaRPr lang="en-US" sz="2300" dirty="0"/>
          </a:p>
        </p:txBody>
      </p:sp>
      <p:sp>
        <p:nvSpPr>
          <p:cNvPr id="15" name="Text 11"/>
          <p:cNvSpPr txBox="1"/>
          <p:nvPr/>
        </p:nvSpPr>
        <p:spPr>
          <a:xfrm>
            <a:off x="4622292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BF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logic, session and user management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055864" y="1371600"/>
            <a:ext cx="3584448" cy="2286000"/>
          </a:xfrm>
          <a:prstGeom prst="roundRect">
            <a:avLst>
              <a:gd name="adj" fmla="val 5600"/>
            </a:avLst>
          </a:prstGeom>
          <a:solidFill>
            <a:srgbClr val="0B1F3A"/>
          </a:solidFill>
          <a:ln w="9525">
            <a:solidFill>
              <a:srgbClr val="1F4E8C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8285584" y="1772239"/>
            <a:ext cx="324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COMMUNICATION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8375904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</a:t>
            </a:r>
            <a:endParaRPr lang="en-US" sz="2300" dirty="0"/>
          </a:p>
        </p:txBody>
      </p:sp>
      <p:sp>
        <p:nvSpPr>
          <p:cNvPr id="21" name="Text 16"/>
          <p:cNvSpPr txBox="1"/>
          <p:nvPr/>
        </p:nvSpPr>
        <p:spPr>
          <a:xfrm>
            <a:off x="8375904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BF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 audio/video streaming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548640" y="3886200"/>
            <a:ext cx="3584448" cy="2286000"/>
          </a:xfrm>
          <a:prstGeom prst="roundRect">
            <a:avLst>
              <a:gd name="adj" fmla="val 5600"/>
            </a:avLst>
          </a:prstGeom>
          <a:solidFill>
            <a:srgbClr val="0B1F3A"/>
          </a:solidFill>
          <a:ln w="9525">
            <a:solidFill>
              <a:srgbClr val="1F4E8C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25" name="Text 19"/>
          <p:cNvSpPr txBox="1"/>
          <p:nvPr/>
        </p:nvSpPr>
        <p:spPr>
          <a:xfrm>
            <a:off x="868680" y="4343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868680" y="4983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Whisper</a:t>
            </a:r>
            <a:endParaRPr lang="en-US" sz="2300" dirty="0"/>
          </a:p>
        </p:txBody>
      </p:sp>
      <p:sp>
        <p:nvSpPr>
          <p:cNvPr id="27" name="Text 21"/>
          <p:cNvSpPr txBox="1"/>
          <p:nvPr/>
        </p:nvSpPr>
        <p:spPr>
          <a:xfrm>
            <a:off x="868680" y="5532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BF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transcription of recordings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4302252" y="3886200"/>
            <a:ext cx="3584448" cy="2286000"/>
          </a:xfrm>
          <a:prstGeom prst="roundRect">
            <a:avLst>
              <a:gd name="adj" fmla="val 5600"/>
            </a:avLst>
          </a:prstGeom>
          <a:solidFill>
            <a:srgbClr val="0B1F3A"/>
          </a:solidFill>
          <a:ln w="9525">
            <a:solidFill>
              <a:srgbClr val="1F4E8C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31" name="Text 24"/>
          <p:cNvSpPr txBox="1"/>
          <p:nvPr/>
        </p:nvSpPr>
        <p:spPr>
          <a:xfrm>
            <a:off x="4622292" y="439063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4622292" y="4983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Translate API</a:t>
            </a:r>
            <a:endParaRPr lang="en-US" sz="2300" dirty="0"/>
          </a:p>
        </p:txBody>
      </p:sp>
      <p:sp>
        <p:nvSpPr>
          <p:cNvPr id="33" name="Text 26"/>
          <p:cNvSpPr txBox="1"/>
          <p:nvPr/>
        </p:nvSpPr>
        <p:spPr>
          <a:xfrm>
            <a:off x="4622292" y="5532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BF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transcript translation</a:t>
            </a:r>
            <a:endParaRPr lang="en-US" sz="1400" dirty="0"/>
          </a:p>
        </p:txBody>
      </p:sp>
      <p:sp>
        <p:nvSpPr>
          <p:cNvPr id="34" name="Shape 27"/>
          <p:cNvSpPr/>
          <p:nvPr/>
        </p:nvSpPr>
        <p:spPr>
          <a:xfrm>
            <a:off x="8055864" y="3886200"/>
            <a:ext cx="3584448" cy="2286000"/>
          </a:xfrm>
          <a:prstGeom prst="roundRect">
            <a:avLst>
              <a:gd name="adj" fmla="val 5600"/>
            </a:avLst>
          </a:prstGeom>
          <a:solidFill>
            <a:srgbClr val="0B1F3A"/>
          </a:solidFill>
          <a:ln w="9525">
            <a:solidFill>
              <a:srgbClr val="1F4E8C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37" name="Text 29"/>
          <p:cNvSpPr txBox="1"/>
          <p:nvPr/>
        </p:nvSpPr>
        <p:spPr>
          <a:xfrm>
            <a:off x="8375904" y="4297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EXPORT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8375904" y="4983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Generation Library</a:t>
            </a:r>
            <a:endParaRPr lang="en-US" sz="2300" dirty="0"/>
          </a:p>
        </p:txBody>
      </p:sp>
      <p:sp>
        <p:nvSpPr>
          <p:cNvPr id="39" name="Text 31"/>
          <p:cNvSpPr txBox="1"/>
          <p:nvPr/>
        </p:nvSpPr>
        <p:spPr>
          <a:xfrm>
            <a:off x="8375904" y="5532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BF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Formatted, downloadable transcripts</a:t>
            </a:r>
            <a:endParaRPr lang="en-US" sz="14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44D0C70-8C6C-C580-A8DE-F8595F9419BB}"/>
              </a:ext>
            </a:extLst>
          </p:cNvPr>
          <p:cNvSpPr/>
          <p:nvPr/>
        </p:nvSpPr>
        <p:spPr>
          <a:xfrm>
            <a:off x="548640" y="6513922"/>
            <a:ext cx="10588752" cy="1225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C2E81BD-A2AB-1B3C-813D-E2833D0A700A}"/>
              </a:ext>
            </a:extLst>
          </p:cNvPr>
          <p:cNvSpPr/>
          <p:nvPr/>
        </p:nvSpPr>
        <p:spPr>
          <a:xfrm>
            <a:off x="1917218" y="1055615"/>
            <a:ext cx="1101818" cy="526771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Users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9343207-5677-E33D-C96C-A6CC0F4D08C8}"/>
              </a:ext>
            </a:extLst>
          </p:cNvPr>
          <p:cNvSpPr/>
          <p:nvPr/>
        </p:nvSpPr>
        <p:spPr>
          <a:xfrm>
            <a:off x="4001168" y="703930"/>
            <a:ext cx="3126924" cy="1186295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Frontend( UI)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HTML,CSS,JAVASCRIPT</a:t>
            </a:r>
          </a:p>
          <a:p>
            <a:pPr algn="ctr"/>
            <a:endParaRPr lang="en-IN" dirty="0">
              <a:solidFill>
                <a:schemeClr val="bg1"/>
              </a:solidFill>
            </a:endParaRPr>
          </a:p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3E3AD07-7046-1E89-90B0-2647DD8A0262}"/>
              </a:ext>
            </a:extLst>
          </p:cNvPr>
          <p:cNvSpPr/>
          <p:nvPr/>
        </p:nvSpPr>
        <p:spPr>
          <a:xfrm>
            <a:off x="2808658" y="2207188"/>
            <a:ext cx="5220106" cy="1446561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56ADB0-6E85-C0CE-445B-60619AB9587E}"/>
              </a:ext>
            </a:extLst>
          </p:cNvPr>
          <p:cNvSpPr txBox="1"/>
          <p:nvPr/>
        </p:nvSpPr>
        <p:spPr>
          <a:xfrm>
            <a:off x="4303825" y="2230316"/>
            <a:ext cx="2582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Django Backend Server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E3AFA5-D8D8-093C-ECF7-0EC2EC57572A}"/>
              </a:ext>
            </a:extLst>
          </p:cNvPr>
          <p:cNvSpPr/>
          <p:nvPr/>
        </p:nvSpPr>
        <p:spPr>
          <a:xfrm>
            <a:off x="4909248" y="2704315"/>
            <a:ext cx="1278294" cy="3732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Transcription &amp; NLP Services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468F88-E632-BE32-E2CB-B920FB8AFC30}"/>
              </a:ext>
            </a:extLst>
          </p:cNvPr>
          <p:cNvSpPr/>
          <p:nvPr/>
        </p:nvSpPr>
        <p:spPr>
          <a:xfrm>
            <a:off x="6434777" y="2664872"/>
            <a:ext cx="1278294" cy="3732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Meeting Management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E6687F-2A62-3D84-45EF-805F3D84AB9A}"/>
              </a:ext>
            </a:extLst>
          </p:cNvPr>
          <p:cNvSpPr/>
          <p:nvPr/>
        </p:nvSpPr>
        <p:spPr>
          <a:xfrm>
            <a:off x="3276643" y="2674129"/>
            <a:ext cx="1278294" cy="3732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User Authentication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F6B76B-9093-D533-56FF-DE8CA9EA1BB3}"/>
              </a:ext>
            </a:extLst>
          </p:cNvPr>
          <p:cNvSpPr/>
          <p:nvPr/>
        </p:nvSpPr>
        <p:spPr>
          <a:xfrm>
            <a:off x="4906436" y="3191167"/>
            <a:ext cx="1278294" cy="3732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Recording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Management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880040-9880-8DB4-EC09-9D84398F8520}"/>
              </a:ext>
            </a:extLst>
          </p:cNvPr>
          <p:cNvSpPr txBox="1"/>
          <p:nvPr/>
        </p:nvSpPr>
        <p:spPr>
          <a:xfrm>
            <a:off x="4149364" y="1432761"/>
            <a:ext cx="8606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Meeting</a:t>
            </a:r>
          </a:p>
          <a:p>
            <a:r>
              <a:rPr lang="en-IN" sz="1200" dirty="0"/>
              <a:t>Dashboard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59EDF1-BFF4-59A3-EC5F-529D53D2EB38}"/>
              </a:ext>
            </a:extLst>
          </p:cNvPr>
          <p:cNvSpPr txBox="1"/>
          <p:nvPr/>
        </p:nvSpPr>
        <p:spPr>
          <a:xfrm>
            <a:off x="5006256" y="1454316"/>
            <a:ext cx="645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Video</a:t>
            </a:r>
          </a:p>
          <a:p>
            <a:r>
              <a:rPr lang="en-IN" sz="1200" dirty="0"/>
              <a:t>Room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21E141-00C3-C13E-305D-FEA59087C9BA}"/>
              </a:ext>
            </a:extLst>
          </p:cNvPr>
          <p:cNvSpPr txBox="1"/>
          <p:nvPr/>
        </p:nvSpPr>
        <p:spPr>
          <a:xfrm>
            <a:off x="5551768" y="1545608"/>
            <a:ext cx="8605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Transcripts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D328B6-DA8B-7BB0-D3B2-2F8AEA826AC1}"/>
              </a:ext>
            </a:extLst>
          </p:cNvPr>
          <p:cNvSpPr txBox="1"/>
          <p:nvPr/>
        </p:nvSpPr>
        <p:spPr>
          <a:xfrm>
            <a:off x="6452248" y="1562848"/>
            <a:ext cx="6692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Reports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4C7D069-BA01-8D81-A759-BB953FF5A032}"/>
              </a:ext>
            </a:extLst>
          </p:cNvPr>
          <p:cNvSpPr/>
          <p:nvPr/>
        </p:nvSpPr>
        <p:spPr>
          <a:xfrm>
            <a:off x="3271018" y="3191168"/>
            <a:ext cx="1278294" cy="3732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Translation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services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EFF889D-D8F9-9B1E-396B-91014074DF41}"/>
              </a:ext>
            </a:extLst>
          </p:cNvPr>
          <p:cNvSpPr/>
          <p:nvPr/>
        </p:nvSpPr>
        <p:spPr>
          <a:xfrm>
            <a:off x="6429208" y="3195042"/>
            <a:ext cx="1278294" cy="3732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Report/PDF Generation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B09FEB7-9623-35E7-C8EC-5DDFE11AE3F6}"/>
              </a:ext>
            </a:extLst>
          </p:cNvPr>
          <p:cNvSpPr/>
          <p:nvPr/>
        </p:nvSpPr>
        <p:spPr>
          <a:xfrm>
            <a:off x="8512204" y="1118087"/>
            <a:ext cx="2416629" cy="30304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43" name="Shape 16">
            <a:extLst>
              <a:ext uri="{FF2B5EF4-FFF2-40B4-BE49-F238E27FC236}">
                <a16:creationId xmlns:a16="http://schemas.microsoft.com/office/drawing/2014/main" id="{0AFFA022-3387-1D27-967E-59A53F906BF0}"/>
              </a:ext>
            </a:extLst>
          </p:cNvPr>
          <p:cNvSpPr/>
          <p:nvPr/>
        </p:nvSpPr>
        <p:spPr>
          <a:xfrm flipV="1">
            <a:off x="8527386" y="1730490"/>
            <a:ext cx="2416629" cy="0"/>
          </a:xfrm>
          <a:prstGeom prst="line">
            <a:avLst/>
          </a:prstGeom>
          <a:noFill/>
          <a:ln w="19050">
            <a:solidFill>
              <a:schemeClr val="tx2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5" name="Shape 16">
            <a:extLst>
              <a:ext uri="{FF2B5EF4-FFF2-40B4-BE49-F238E27FC236}">
                <a16:creationId xmlns:a16="http://schemas.microsoft.com/office/drawing/2014/main" id="{6073FA04-3E00-325E-E777-B8CBBAD603E6}"/>
              </a:ext>
            </a:extLst>
          </p:cNvPr>
          <p:cNvSpPr/>
          <p:nvPr/>
        </p:nvSpPr>
        <p:spPr>
          <a:xfrm flipV="1">
            <a:off x="8527386" y="2304797"/>
            <a:ext cx="2416629" cy="0"/>
          </a:xfrm>
          <a:prstGeom prst="line">
            <a:avLst/>
          </a:prstGeom>
          <a:noFill/>
          <a:ln w="19050">
            <a:solidFill>
              <a:schemeClr val="tx2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7" name="Shape 16">
            <a:extLst>
              <a:ext uri="{FF2B5EF4-FFF2-40B4-BE49-F238E27FC236}">
                <a16:creationId xmlns:a16="http://schemas.microsoft.com/office/drawing/2014/main" id="{6509CF88-C784-21D3-2B3B-DA61A761F157}"/>
              </a:ext>
            </a:extLst>
          </p:cNvPr>
          <p:cNvSpPr/>
          <p:nvPr/>
        </p:nvSpPr>
        <p:spPr>
          <a:xfrm flipV="1">
            <a:off x="8527386" y="2938260"/>
            <a:ext cx="2416629" cy="0"/>
          </a:xfrm>
          <a:prstGeom prst="line">
            <a:avLst/>
          </a:prstGeom>
          <a:noFill/>
          <a:ln w="19050">
            <a:solidFill>
              <a:schemeClr val="tx2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752FDCCA-39FB-59F6-C8CA-AF62B4C699E1}"/>
              </a:ext>
            </a:extLst>
          </p:cNvPr>
          <p:cNvSpPr/>
          <p:nvPr/>
        </p:nvSpPr>
        <p:spPr>
          <a:xfrm flipV="1">
            <a:off x="8527386" y="3564393"/>
            <a:ext cx="2416629" cy="0"/>
          </a:xfrm>
          <a:prstGeom prst="line">
            <a:avLst/>
          </a:prstGeom>
          <a:noFill/>
          <a:ln w="19050">
            <a:solidFill>
              <a:schemeClr val="tx2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BDA6FFA-FC01-DCB3-9515-A62D4E4FBD37}"/>
              </a:ext>
            </a:extLst>
          </p:cNvPr>
          <p:cNvSpPr txBox="1"/>
          <p:nvPr/>
        </p:nvSpPr>
        <p:spPr>
          <a:xfrm>
            <a:off x="9112145" y="1253257"/>
            <a:ext cx="109183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b="1" dirty="0"/>
              <a:t>AI Processing</a:t>
            </a:r>
          </a:p>
          <a:p>
            <a:pPr algn="ctr"/>
            <a:r>
              <a:rPr lang="en-IN" sz="1200" b="1" dirty="0"/>
              <a:t>module</a:t>
            </a:r>
          </a:p>
          <a:p>
            <a:endParaRPr lang="en-IN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A338FC3-7005-0961-7E73-2833D8490E94}"/>
              </a:ext>
            </a:extLst>
          </p:cNvPr>
          <p:cNvSpPr txBox="1"/>
          <p:nvPr/>
        </p:nvSpPr>
        <p:spPr>
          <a:xfrm>
            <a:off x="9255967" y="1822607"/>
            <a:ext cx="8181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OPEN AI</a:t>
            </a:r>
          </a:p>
          <a:p>
            <a:r>
              <a:rPr lang="en-IN" sz="1200" dirty="0"/>
              <a:t>Whisper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D695140-9CFF-3AEB-F316-CFE6AD5202C6}"/>
              </a:ext>
            </a:extLst>
          </p:cNvPr>
          <p:cNvSpPr txBox="1"/>
          <p:nvPr/>
        </p:nvSpPr>
        <p:spPr>
          <a:xfrm>
            <a:off x="9178335" y="3112289"/>
            <a:ext cx="11147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Translation API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00A079A-BAEB-2269-F474-870F1691026D}"/>
              </a:ext>
            </a:extLst>
          </p:cNvPr>
          <p:cNvSpPr txBox="1"/>
          <p:nvPr/>
        </p:nvSpPr>
        <p:spPr>
          <a:xfrm>
            <a:off x="9255967" y="3625618"/>
            <a:ext cx="997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Subtitle </a:t>
            </a:r>
          </a:p>
          <a:p>
            <a:r>
              <a:rPr lang="en-IN" sz="1200" dirty="0"/>
              <a:t>Generation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44EE191-0B29-5419-6611-77989D12C729}"/>
              </a:ext>
            </a:extLst>
          </p:cNvPr>
          <p:cNvSpPr/>
          <p:nvPr/>
        </p:nvSpPr>
        <p:spPr>
          <a:xfrm>
            <a:off x="2849667" y="4031334"/>
            <a:ext cx="5220106" cy="10693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4C03E3B-8718-1C7B-5702-559E60A19926}"/>
              </a:ext>
            </a:extLst>
          </p:cNvPr>
          <p:cNvCxnSpPr>
            <a:cxnSpLocks/>
          </p:cNvCxnSpPr>
          <p:nvPr/>
        </p:nvCxnSpPr>
        <p:spPr>
          <a:xfrm>
            <a:off x="2839221" y="4478694"/>
            <a:ext cx="522010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A94A074-872E-E6F8-3DDB-6288899A291D}"/>
              </a:ext>
            </a:extLst>
          </p:cNvPr>
          <p:cNvSpPr txBox="1"/>
          <p:nvPr/>
        </p:nvSpPr>
        <p:spPr>
          <a:xfrm>
            <a:off x="4650517" y="4119504"/>
            <a:ext cx="2351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Database (SQLite)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B47730B-5F81-B7C1-B9FB-40FE3885024B}"/>
              </a:ext>
            </a:extLst>
          </p:cNvPr>
          <p:cNvCxnSpPr>
            <a:cxnSpLocks/>
          </p:cNvCxnSpPr>
          <p:nvPr/>
        </p:nvCxnSpPr>
        <p:spPr>
          <a:xfrm>
            <a:off x="2839221" y="4790468"/>
            <a:ext cx="5220106" cy="263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D0C2DD81-9F6E-C04E-3996-30624E9471B6}"/>
              </a:ext>
            </a:extLst>
          </p:cNvPr>
          <p:cNvSpPr txBox="1"/>
          <p:nvPr/>
        </p:nvSpPr>
        <p:spPr>
          <a:xfrm>
            <a:off x="9424331" y="2553375"/>
            <a:ext cx="4283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NLP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8C61D60-D8BA-9239-8A3C-5CF69911BCA4}"/>
              </a:ext>
            </a:extLst>
          </p:cNvPr>
          <p:cNvCxnSpPr>
            <a:cxnSpLocks/>
          </p:cNvCxnSpPr>
          <p:nvPr/>
        </p:nvCxnSpPr>
        <p:spPr>
          <a:xfrm>
            <a:off x="5545583" y="4488432"/>
            <a:ext cx="0" cy="3104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6D35E0C-A9F5-D1B0-BB20-8FEB1F104E81}"/>
              </a:ext>
            </a:extLst>
          </p:cNvPr>
          <p:cNvCxnSpPr>
            <a:cxnSpLocks/>
          </p:cNvCxnSpPr>
          <p:nvPr/>
        </p:nvCxnSpPr>
        <p:spPr>
          <a:xfrm flipH="1">
            <a:off x="4244123" y="4811998"/>
            <a:ext cx="7105" cy="2739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31EF5723-809C-85E5-65D3-ECCCCB039999}"/>
              </a:ext>
            </a:extLst>
          </p:cNvPr>
          <p:cNvCxnSpPr>
            <a:cxnSpLocks/>
          </p:cNvCxnSpPr>
          <p:nvPr/>
        </p:nvCxnSpPr>
        <p:spPr>
          <a:xfrm>
            <a:off x="6108803" y="4827538"/>
            <a:ext cx="0" cy="3079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20DC5398-2E90-1402-188A-A9A5C6C2D0ED}"/>
              </a:ext>
            </a:extLst>
          </p:cNvPr>
          <p:cNvSpPr txBox="1"/>
          <p:nvPr/>
        </p:nvSpPr>
        <p:spPr>
          <a:xfrm>
            <a:off x="3831750" y="4515678"/>
            <a:ext cx="9209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User details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D4D7249-E06D-B2B5-3A25-25FF36C83940}"/>
              </a:ext>
            </a:extLst>
          </p:cNvPr>
          <p:cNvSpPr txBox="1"/>
          <p:nvPr/>
        </p:nvSpPr>
        <p:spPr>
          <a:xfrm>
            <a:off x="6151277" y="4521881"/>
            <a:ext cx="11541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Meeting details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AD54C4F-ADEB-BB1D-91DE-854209484474}"/>
              </a:ext>
            </a:extLst>
          </p:cNvPr>
          <p:cNvSpPr txBox="1"/>
          <p:nvPr/>
        </p:nvSpPr>
        <p:spPr>
          <a:xfrm>
            <a:off x="3046965" y="4834816"/>
            <a:ext cx="863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Recordings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341D3B7-1C31-279A-7BD0-1E1B06EE49C3}"/>
              </a:ext>
            </a:extLst>
          </p:cNvPr>
          <p:cNvSpPr txBox="1"/>
          <p:nvPr/>
        </p:nvSpPr>
        <p:spPr>
          <a:xfrm>
            <a:off x="4458173" y="4842995"/>
            <a:ext cx="8605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Transcripts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A2FDE0D-1809-E8BF-61E1-9DF338BD4A55}"/>
              </a:ext>
            </a:extLst>
          </p:cNvPr>
          <p:cNvSpPr txBox="1"/>
          <p:nvPr/>
        </p:nvSpPr>
        <p:spPr>
          <a:xfrm>
            <a:off x="6429208" y="4798880"/>
            <a:ext cx="6692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Reports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988E32D9-3111-EC74-3DE9-146349010DFC}"/>
              </a:ext>
            </a:extLst>
          </p:cNvPr>
          <p:cNvSpPr/>
          <p:nvPr/>
        </p:nvSpPr>
        <p:spPr>
          <a:xfrm>
            <a:off x="2059774" y="5402709"/>
            <a:ext cx="8807277" cy="1161354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51052C9-4CE6-76F8-78D6-C68AB5D1F24E}"/>
              </a:ext>
            </a:extLst>
          </p:cNvPr>
          <p:cNvCxnSpPr>
            <a:cxnSpLocks/>
          </p:cNvCxnSpPr>
          <p:nvPr/>
        </p:nvCxnSpPr>
        <p:spPr>
          <a:xfrm>
            <a:off x="3985986" y="1387663"/>
            <a:ext cx="3126924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1A84F147-1305-A16F-1005-E4D2A252D74B}"/>
              </a:ext>
            </a:extLst>
          </p:cNvPr>
          <p:cNvSpPr txBox="1"/>
          <p:nvPr/>
        </p:nvSpPr>
        <p:spPr>
          <a:xfrm>
            <a:off x="5449274" y="5425119"/>
            <a:ext cx="15426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/>
              <a:t>Generated Output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9C2121C-3B51-56BF-722C-41CB7DB6EAC0}"/>
              </a:ext>
            </a:extLst>
          </p:cNvPr>
          <p:cNvSpPr/>
          <p:nvPr/>
        </p:nvSpPr>
        <p:spPr>
          <a:xfrm>
            <a:off x="2579966" y="5849135"/>
            <a:ext cx="1290750" cy="362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Meeting Transcript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C270AC2-D327-C561-7383-C5196614B797}"/>
              </a:ext>
            </a:extLst>
          </p:cNvPr>
          <p:cNvSpPr/>
          <p:nvPr/>
        </p:nvSpPr>
        <p:spPr>
          <a:xfrm>
            <a:off x="4186326" y="5870629"/>
            <a:ext cx="1290750" cy="362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Multilingual 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Translation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5BFA22BC-AA14-EFE0-ABCC-789C54ADD5CB}"/>
              </a:ext>
            </a:extLst>
          </p:cNvPr>
          <p:cNvSpPr/>
          <p:nvPr/>
        </p:nvSpPr>
        <p:spPr>
          <a:xfrm>
            <a:off x="5818038" y="5901986"/>
            <a:ext cx="1290750" cy="362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AI Meeting summary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0B3C881-19B5-B7AF-03F6-EEDB2C94C332}"/>
              </a:ext>
            </a:extLst>
          </p:cNvPr>
          <p:cNvSpPr/>
          <p:nvPr/>
        </p:nvSpPr>
        <p:spPr>
          <a:xfrm>
            <a:off x="7424398" y="5900706"/>
            <a:ext cx="1290750" cy="362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Subtitle File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1657B385-5AB2-2EAC-466F-079B90A057CB}"/>
              </a:ext>
            </a:extLst>
          </p:cNvPr>
          <p:cNvSpPr/>
          <p:nvPr/>
        </p:nvSpPr>
        <p:spPr>
          <a:xfrm>
            <a:off x="8913232" y="5887839"/>
            <a:ext cx="1514136" cy="362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PDF Report/Download</a:t>
            </a:r>
          </a:p>
        </p:txBody>
      </p:sp>
      <p:sp>
        <p:nvSpPr>
          <p:cNvPr id="4" name="Shape 17">
            <a:extLst>
              <a:ext uri="{FF2B5EF4-FFF2-40B4-BE49-F238E27FC236}">
                <a16:creationId xmlns:a16="http://schemas.microsoft.com/office/drawing/2014/main" id="{80230A35-A1D2-EB8D-BA28-897EF2F59281}"/>
              </a:ext>
            </a:extLst>
          </p:cNvPr>
          <p:cNvSpPr/>
          <p:nvPr/>
        </p:nvSpPr>
        <p:spPr>
          <a:xfrm>
            <a:off x="379734" y="2571523"/>
            <a:ext cx="2013869" cy="2572473"/>
          </a:xfrm>
          <a:prstGeom prst="roundRect">
            <a:avLst>
              <a:gd name="adj" fmla="val 4082"/>
            </a:avLst>
          </a:prstGeom>
          <a:solidFill>
            <a:srgbClr val="E8F1F5"/>
          </a:solidFill>
          <a:ln/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01229B-3383-518B-4ED6-6D22D8152626}"/>
              </a:ext>
            </a:extLst>
          </p:cNvPr>
          <p:cNvSpPr txBox="1"/>
          <p:nvPr/>
        </p:nvSpPr>
        <p:spPr>
          <a:xfrm>
            <a:off x="782973" y="2678120"/>
            <a:ext cx="60975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DC5B9D-98A4-635D-F598-F2DCA8491F20}"/>
              </a:ext>
            </a:extLst>
          </p:cNvPr>
          <p:cNvSpPr txBox="1"/>
          <p:nvPr/>
        </p:nvSpPr>
        <p:spPr>
          <a:xfrm>
            <a:off x="701336" y="3106131"/>
            <a:ext cx="11005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1.Join meeting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F664AB-92F5-D0AF-E12D-C72BEDA82400}"/>
              </a:ext>
            </a:extLst>
          </p:cNvPr>
          <p:cNvSpPr txBox="1"/>
          <p:nvPr/>
        </p:nvSpPr>
        <p:spPr>
          <a:xfrm>
            <a:off x="688486" y="3435180"/>
            <a:ext cx="13086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2. Record Session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DB98BA-680C-3808-5FAF-7AA4E158543E}"/>
              </a:ext>
            </a:extLst>
          </p:cNvPr>
          <p:cNvSpPr txBox="1"/>
          <p:nvPr/>
        </p:nvSpPr>
        <p:spPr>
          <a:xfrm>
            <a:off x="688486" y="3699030"/>
            <a:ext cx="13542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3. Transcript Audio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99A594-ACBB-4894-2F56-A9D4CBC55995}"/>
              </a:ext>
            </a:extLst>
          </p:cNvPr>
          <p:cNvSpPr txBox="1"/>
          <p:nvPr/>
        </p:nvSpPr>
        <p:spPr>
          <a:xfrm>
            <a:off x="699600" y="4031334"/>
            <a:ext cx="14841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4. Generate subtitles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CD6777-4F94-EAF0-74CB-5C4CAA9410D1}"/>
              </a:ext>
            </a:extLst>
          </p:cNvPr>
          <p:cNvSpPr txBox="1"/>
          <p:nvPr/>
        </p:nvSpPr>
        <p:spPr>
          <a:xfrm>
            <a:off x="690478" y="4315555"/>
            <a:ext cx="11453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5.Translate Text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A6D5D8-59AC-24B2-95BF-F8A20C91B3A7}"/>
              </a:ext>
            </a:extLst>
          </p:cNvPr>
          <p:cNvSpPr txBox="1"/>
          <p:nvPr/>
        </p:nvSpPr>
        <p:spPr>
          <a:xfrm>
            <a:off x="699600" y="4651968"/>
            <a:ext cx="9909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6.Export PDF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40C5B68-CC1C-04B9-2C27-4EDD09F43331}"/>
              </a:ext>
            </a:extLst>
          </p:cNvPr>
          <p:cNvSpPr txBox="1"/>
          <p:nvPr/>
        </p:nvSpPr>
        <p:spPr>
          <a:xfrm>
            <a:off x="214604" y="257625"/>
            <a:ext cx="3617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400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4CA6735-03FF-1ECC-75FC-EE54F56E10F9}"/>
              </a:ext>
            </a:extLst>
          </p:cNvPr>
          <p:cNvCxnSpPr>
            <a:cxnSpLocks/>
          </p:cNvCxnSpPr>
          <p:nvPr/>
        </p:nvCxnSpPr>
        <p:spPr>
          <a:xfrm flipH="1" flipV="1">
            <a:off x="5001037" y="1387663"/>
            <a:ext cx="5219" cy="60425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7CF92D7-E750-ED4A-9A0B-55F147C74105}"/>
              </a:ext>
            </a:extLst>
          </p:cNvPr>
          <p:cNvCxnSpPr>
            <a:cxnSpLocks/>
          </p:cNvCxnSpPr>
          <p:nvPr/>
        </p:nvCxnSpPr>
        <p:spPr>
          <a:xfrm flipV="1">
            <a:off x="5583186" y="1381463"/>
            <a:ext cx="0" cy="58977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6FA96F6-64A8-E60E-5E65-1F2924C01779}"/>
              </a:ext>
            </a:extLst>
          </p:cNvPr>
          <p:cNvCxnSpPr>
            <a:cxnSpLocks/>
          </p:cNvCxnSpPr>
          <p:nvPr/>
        </p:nvCxnSpPr>
        <p:spPr>
          <a:xfrm flipV="1">
            <a:off x="6412325" y="1390486"/>
            <a:ext cx="0" cy="56952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Arrow: Up-Down 83">
            <a:extLst>
              <a:ext uri="{FF2B5EF4-FFF2-40B4-BE49-F238E27FC236}">
                <a16:creationId xmlns:a16="http://schemas.microsoft.com/office/drawing/2014/main" id="{2EBE35A9-B955-2C71-28C9-9656C4C4677F}"/>
              </a:ext>
            </a:extLst>
          </p:cNvPr>
          <p:cNvSpPr/>
          <p:nvPr/>
        </p:nvSpPr>
        <p:spPr>
          <a:xfrm flipH="1">
            <a:off x="5508496" y="1894426"/>
            <a:ext cx="107049" cy="316569"/>
          </a:xfrm>
          <a:prstGeom prst="upDown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88" name="Arrow: Up-Down 87">
            <a:extLst>
              <a:ext uri="{FF2B5EF4-FFF2-40B4-BE49-F238E27FC236}">
                <a16:creationId xmlns:a16="http://schemas.microsoft.com/office/drawing/2014/main" id="{33A2CBE2-1D29-9A58-CF82-7203B0AFC475}"/>
              </a:ext>
            </a:extLst>
          </p:cNvPr>
          <p:cNvSpPr/>
          <p:nvPr/>
        </p:nvSpPr>
        <p:spPr>
          <a:xfrm flipH="1">
            <a:off x="5545583" y="3666097"/>
            <a:ext cx="106598" cy="352198"/>
          </a:xfrm>
          <a:prstGeom prst="upDown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92" name="Arrow: Up-Down 91">
            <a:extLst>
              <a:ext uri="{FF2B5EF4-FFF2-40B4-BE49-F238E27FC236}">
                <a16:creationId xmlns:a16="http://schemas.microsoft.com/office/drawing/2014/main" id="{7BC450BA-8258-8A2F-55A6-C1713ACC5776}"/>
              </a:ext>
            </a:extLst>
          </p:cNvPr>
          <p:cNvSpPr/>
          <p:nvPr/>
        </p:nvSpPr>
        <p:spPr>
          <a:xfrm flipH="1">
            <a:off x="5556249" y="5107694"/>
            <a:ext cx="129023" cy="295015"/>
          </a:xfrm>
          <a:prstGeom prst="upDown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96" name="Arrow: Up-Down 95">
            <a:extLst>
              <a:ext uri="{FF2B5EF4-FFF2-40B4-BE49-F238E27FC236}">
                <a16:creationId xmlns:a16="http://schemas.microsoft.com/office/drawing/2014/main" id="{0F5D8321-181A-BFD7-612A-389DEF96F237}"/>
              </a:ext>
            </a:extLst>
          </p:cNvPr>
          <p:cNvSpPr/>
          <p:nvPr/>
        </p:nvSpPr>
        <p:spPr>
          <a:xfrm rot="5400000" flipH="1">
            <a:off x="3442583" y="824604"/>
            <a:ext cx="137229" cy="994534"/>
          </a:xfrm>
          <a:prstGeom prst="upDown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98" name="Arrow: Up-Down 97">
            <a:extLst>
              <a:ext uri="{FF2B5EF4-FFF2-40B4-BE49-F238E27FC236}">
                <a16:creationId xmlns:a16="http://schemas.microsoft.com/office/drawing/2014/main" id="{6949E968-89EB-E8DF-25A0-5B1743190FF5}"/>
              </a:ext>
            </a:extLst>
          </p:cNvPr>
          <p:cNvSpPr/>
          <p:nvPr/>
        </p:nvSpPr>
        <p:spPr>
          <a:xfrm rot="5400000">
            <a:off x="8170157" y="2870200"/>
            <a:ext cx="171221" cy="470712"/>
          </a:xfrm>
          <a:prstGeom prst="upDown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5382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B031F24-A7CE-5070-C56F-E89A24A4E3B8}"/>
              </a:ext>
            </a:extLst>
          </p:cNvPr>
          <p:cNvSpPr/>
          <p:nvPr/>
        </p:nvSpPr>
        <p:spPr>
          <a:xfrm>
            <a:off x="579000" y="289553"/>
            <a:ext cx="3000845" cy="79310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31F0D3-2FD2-B07E-EF03-18D1FD1BF7C7}"/>
              </a:ext>
            </a:extLst>
          </p:cNvPr>
          <p:cNvSpPr txBox="1"/>
          <p:nvPr/>
        </p:nvSpPr>
        <p:spPr>
          <a:xfrm>
            <a:off x="922343" y="478415"/>
            <a:ext cx="66270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Diagram</a:t>
            </a:r>
            <a:endParaRPr lang="en-US" dirty="0"/>
          </a:p>
        </p:txBody>
      </p:sp>
      <p:sp>
        <p:nvSpPr>
          <p:cNvPr id="10" name="Rectangle: Diagonal Corners Rounded 9">
            <a:extLst>
              <a:ext uri="{FF2B5EF4-FFF2-40B4-BE49-F238E27FC236}">
                <a16:creationId xmlns:a16="http://schemas.microsoft.com/office/drawing/2014/main" id="{93B39E59-9CFB-CAC6-0D5E-BAA9EF58B4D6}"/>
              </a:ext>
            </a:extLst>
          </p:cNvPr>
          <p:cNvSpPr/>
          <p:nvPr/>
        </p:nvSpPr>
        <p:spPr>
          <a:xfrm>
            <a:off x="3657601" y="335461"/>
            <a:ext cx="1530220" cy="645143"/>
          </a:xfrm>
          <a:prstGeom prst="round2Diag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D378AD-3C98-C654-EA05-C1A4DFF31612}"/>
              </a:ext>
            </a:extLst>
          </p:cNvPr>
          <p:cNvSpPr txBox="1"/>
          <p:nvPr/>
        </p:nvSpPr>
        <p:spPr>
          <a:xfrm>
            <a:off x="3969702" y="473366"/>
            <a:ext cx="1016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LEVEL 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0C7B03-A41D-8BE5-1A89-382F06033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000" y="2430000"/>
            <a:ext cx="11106000" cy="199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973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1D9CB111-95A1-9E6C-BA14-C16AA111737A}"/>
              </a:ext>
            </a:extLst>
          </p:cNvPr>
          <p:cNvSpPr/>
          <p:nvPr/>
        </p:nvSpPr>
        <p:spPr>
          <a:xfrm>
            <a:off x="382555" y="251926"/>
            <a:ext cx="2202024" cy="597159"/>
          </a:xfrm>
          <a:prstGeom prst="round2Diag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LEVEL 1 USER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86C964-C4A0-34DF-202B-CF64EB2F38EF}"/>
              </a:ext>
            </a:extLst>
          </p:cNvPr>
          <p:cNvSpPr/>
          <p:nvPr/>
        </p:nvSpPr>
        <p:spPr>
          <a:xfrm>
            <a:off x="292067" y="251926"/>
            <a:ext cx="47625" cy="597159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B1233C-758E-F305-4F4D-499F4BDA0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66" y="970384"/>
            <a:ext cx="11248927" cy="5887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759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046AF451-B309-6175-D27B-6CF928729403}"/>
              </a:ext>
            </a:extLst>
          </p:cNvPr>
          <p:cNvSpPr/>
          <p:nvPr/>
        </p:nvSpPr>
        <p:spPr>
          <a:xfrm>
            <a:off x="597159" y="313449"/>
            <a:ext cx="2136710" cy="625151"/>
          </a:xfrm>
          <a:prstGeom prst="round2Diag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LEVEL 1 ADMIN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CF5E3-73C6-BE3A-02D1-7EA9ABC087F7}"/>
              </a:ext>
            </a:extLst>
          </p:cNvPr>
          <p:cNvSpPr/>
          <p:nvPr/>
        </p:nvSpPr>
        <p:spPr>
          <a:xfrm flipH="1">
            <a:off x="511823" y="313449"/>
            <a:ext cx="45719" cy="625151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0924B0-54B2-3E43-1470-EC042EFA1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09" y="1352938"/>
            <a:ext cx="11641818" cy="533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858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D5803E-E87F-3D6C-8E31-663F907A7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733" y="699796"/>
            <a:ext cx="9418589" cy="5962261"/>
          </a:xfrm>
          <a:prstGeom prst="rect">
            <a:avLst/>
          </a:prstGeom>
        </p:spPr>
      </p:pic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A7BC72F6-D1BD-839B-AE30-34D56245408A}"/>
              </a:ext>
            </a:extLst>
          </p:cNvPr>
          <p:cNvSpPr/>
          <p:nvPr/>
        </p:nvSpPr>
        <p:spPr>
          <a:xfrm>
            <a:off x="625150" y="346106"/>
            <a:ext cx="2267339" cy="559836"/>
          </a:xfrm>
          <a:prstGeom prst="round2Diag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USECASE DIAGRAM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094483-B9C7-D9C2-E3DA-A836E5B97C67}"/>
              </a:ext>
            </a:extLst>
          </p:cNvPr>
          <p:cNvSpPr/>
          <p:nvPr/>
        </p:nvSpPr>
        <p:spPr>
          <a:xfrm flipH="1">
            <a:off x="511823" y="313449"/>
            <a:ext cx="45719" cy="625151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823148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C425120-0F55-867E-FD0E-B0D9C1D3E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283" y="905069"/>
            <a:ext cx="11468256" cy="5831634"/>
          </a:xfrm>
          <a:prstGeom prst="rect">
            <a:avLst/>
          </a:prstGeom>
        </p:spPr>
      </p:pic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FBC3EAD3-D440-4F3E-8948-2EE75536AF25}"/>
              </a:ext>
            </a:extLst>
          </p:cNvPr>
          <p:cNvSpPr/>
          <p:nvPr/>
        </p:nvSpPr>
        <p:spPr>
          <a:xfrm>
            <a:off x="597159" y="313449"/>
            <a:ext cx="2136710" cy="625151"/>
          </a:xfrm>
          <a:prstGeom prst="round2Diag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ER DIAGRAM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8C154F-5956-4D33-5FF3-BADFF3970D02}"/>
              </a:ext>
            </a:extLst>
          </p:cNvPr>
          <p:cNvSpPr/>
          <p:nvPr/>
        </p:nvSpPr>
        <p:spPr>
          <a:xfrm flipH="1">
            <a:off x="511823" y="313449"/>
            <a:ext cx="45719" cy="625151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 23">
            <a:extLst>
              <a:ext uri="{FF2B5EF4-FFF2-40B4-BE49-F238E27FC236}">
                <a16:creationId xmlns:a16="http://schemas.microsoft.com/office/drawing/2014/main" id="{569BCF2C-6FB0-203F-77FC-FE17092902F0}"/>
              </a:ext>
            </a:extLst>
          </p:cNvPr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3138765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702D0E-918B-5643-6748-7B9497DBB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11" y="690465"/>
            <a:ext cx="11368574" cy="59529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551D0E-555B-4B42-4EB1-B39764363F06}"/>
              </a:ext>
            </a:extLst>
          </p:cNvPr>
          <p:cNvSpPr txBox="1"/>
          <p:nvPr/>
        </p:nvSpPr>
        <p:spPr>
          <a:xfrm>
            <a:off x="429208" y="214604"/>
            <a:ext cx="1682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Diagram</a:t>
            </a:r>
            <a:endParaRPr lang="en-IN" dirty="0"/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0CF41871-F953-D1F8-6D23-22D77C8AAB76}"/>
              </a:ext>
            </a:extLst>
          </p:cNvPr>
          <p:cNvSpPr/>
          <p:nvPr/>
        </p:nvSpPr>
        <p:spPr>
          <a:xfrm>
            <a:off x="429208" y="214604"/>
            <a:ext cx="2136710" cy="625151"/>
          </a:xfrm>
          <a:prstGeom prst="round2Diag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CLASS DIAGRAM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9CFB11-5F9D-3EC2-B947-4328D8D6D090}"/>
              </a:ext>
            </a:extLst>
          </p:cNvPr>
          <p:cNvSpPr/>
          <p:nvPr/>
        </p:nvSpPr>
        <p:spPr>
          <a:xfrm flipH="1">
            <a:off x="324277" y="248034"/>
            <a:ext cx="45719" cy="625151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3519968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4E41175-2E7D-BDC4-7E86-B6E73BB6E6C8}"/>
              </a:ext>
            </a:extLst>
          </p:cNvPr>
          <p:cNvSpPr txBox="1"/>
          <p:nvPr/>
        </p:nvSpPr>
        <p:spPr>
          <a:xfrm>
            <a:off x="485192" y="382554"/>
            <a:ext cx="2015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STATE DIAGRAM</a:t>
            </a: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AB3C0490-0A75-44B9-F518-78389CC8456E}"/>
              </a:ext>
            </a:extLst>
          </p:cNvPr>
          <p:cNvSpPr/>
          <p:nvPr/>
        </p:nvSpPr>
        <p:spPr>
          <a:xfrm>
            <a:off x="485192" y="254644"/>
            <a:ext cx="2136710" cy="625151"/>
          </a:xfrm>
          <a:prstGeom prst="round2Diag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STATE DIAGRAM</a:t>
            </a:r>
          </a:p>
        </p:txBody>
      </p:sp>
      <p:sp>
        <p:nvSpPr>
          <p:cNvPr id="4" name="Text 23">
            <a:extLst>
              <a:ext uri="{FF2B5EF4-FFF2-40B4-BE49-F238E27FC236}">
                <a16:creationId xmlns:a16="http://schemas.microsoft.com/office/drawing/2014/main" id="{E979EF8C-5B7F-97BD-18D1-676261D89C21}"/>
              </a:ext>
            </a:extLst>
          </p:cNvPr>
          <p:cNvSpPr/>
          <p:nvPr/>
        </p:nvSpPr>
        <p:spPr>
          <a:xfrm>
            <a:off x="1143000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4F7EC5-E82E-A3DF-3BDA-32D127821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3160" y="569006"/>
            <a:ext cx="6951306" cy="610611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05FAAC2-AFED-6B3C-8850-C0FA84685920}"/>
              </a:ext>
            </a:extLst>
          </p:cNvPr>
          <p:cNvSpPr/>
          <p:nvPr/>
        </p:nvSpPr>
        <p:spPr>
          <a:xfrm flipH="1">
            <a:off x="363894" y="254643"/>
            <a:ext cx="45719" cy="625151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5015936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7509E6-4506-73C7-9946-39AAD391E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529" y="752089"/>
            <a:ext cx="11279351" cy="60182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9B65D0-A764-C06D-49FB-1BDB81D3710F}"/>
              </a:ext>
            </a:extLst>
          </p:cNvPr>
          <p:cNvSpPr txBox="1"/>
          <p:nvPr/>
        </p:nvSpPr>
        <p:spPr>
          <a:xfrm>
            <a:off x="354564" y="216550"/>
            <a:ext cx="2319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SEQUENCE DIAGRAM</a:t>
            </a: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E5085F4F-F7A4-BDDA-5F9E-B286B766542D}"/>
              </a:ext>
            </a:extLst>
          </p:cNvPr>
          <p:cNvSpPr/>
          <p:nvPr/>
        </p:nvSpPr>
        <p:spPr>
          <a:xfrm>
            <a:off x="354563" y="87667"/>
            <a:ext cx="2677886" cy="625151"/>
          </a:xfrm>
          <a:prstGeom prst="round2Diag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SEQUENECE DIAGRAM</a:t>
            </a:r>
          </a:p>
        </p:txBody>
      </p:sp>
      <p:sp>
        <p:nvSpPr>
          <p:cNvPr id="4" name="Text 23">
            <a:extLst>
              <a:ext uri="{FF2B5EF4-FFF2-40B4-BE49-F238E27FC236}">
                <a16:creationId xmlns:a16="http://schemas.microsoft.com/office/drawing/2014/main" id="{928CC690-66A5-F078-0EE0-AE3136BFE72E}"/>
              </a:ext>
            </a:extLst>
          </p:cNvPr>
          <p:cNvSpPr/>
          <p:nvPr/>
        </p:nvSpPr>
        <p:spPr>
          <a:xfrm>
            <a:off x="11492711" y="6496013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3540FE-1FF7-F6BC-6E97-6B5E5DA404D9}"/>
              </a:ext>
            </a:extLst>
          </p:cNvPr>
          <p:cNvSpPr/>
          <p:nvPr/>
        </p:nvSpPr>
        <p:spPr>
          <a:xfrm flipH="1">
            <a:off x="253325" y="87667"/>
            <a:ext cx="45719" cy="625151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021146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53035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6E2F0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984" y="1930664"/>
            <a:ext cx="344912" cy="344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846320" y="15087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73252" y="1508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Module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1991161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WebRTC audio/video meetings with screen sharing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99632" y="137160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6E2F0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2976" y="1930664"/>
            <a:ext cx="344912" cy="3449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497312" y="15087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endParaRPr lang="en-US" sz="3000" dirty="0"/>
          </a:p>
        </p:txBody>
      </p:sp>
      <p:sp>
        <p:nvSpPr>
          <p:cNvPr id="14" name="Text 10"/>
          <p:cNvSpPr txBox="1"/>
          <p:nvPr/>
        </p:nvSpPr>
        <p:spPr>
          <a:xfrm>
            <a:off x="6573790" y="15826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Recording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6565392" y="195553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Host-controlled recording of meeting audio and video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48640" y="301752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6E2F0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4846320" y="315468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endParaRPr lang="en-US" sz="3000" dirty="0"/>
          </a:p>
        </p:txBody>
      </p:sp>
      <p:sp>
        <p:nvSpPr>
          <p:cNvPr id="20" name="Text 15"/>
          <p:cNvSpPr txBox="1"/>
          <p:nvPr/>
        </p:nvSpPr>
        <p:spPr>
          <a:xfrm>
            <a:off x="932968" y="316043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Transcript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964692" y="3646759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Whisper-based transcription of recorded sessions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6199632" y="301752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6E2F0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25" name="Text 19"/>
          <p:cNvSpPr txBox="1"/>
          <p:nvPr/>
        </p:nvSpPr>
        <p:spPr>
          <a:xfrm>
            <a:off x="10497312" y="315468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endParaRPr lang="en-US" sz="3000" dirty="0"/>
          </a:p>
        </p:txBody>
      </p:sp>
      <p:sp>
        <p:nvSpPr>
          <p:cNvPr id="26" name="Text 20"/>
          <p:cNvSpPr txBox="1"/>
          <p:nvPr/>
        </p:nvSpPr>
        <p:spPr>
          <a:xfrm>
            <a:off x="6573790" y="318979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 Generator</a:t>
            </a:r>
            <a:endParaRPr lang="en-US" sz="2000" dirty="0"/>
          </a:p>
        </p:txBody>
      </p:sp>
      <p:sp>
        <p:nvSpPr>
          <p:cNvPr id="27" name="Text 21"/>
          <p:cNvSpPr txBox="1"/>
          <p:nvPr/>
        </p:nvSpPr>
        <p:spPr>
          <a:xfrm>
            <a:off x="6610832" y="3577001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Synchronizes transcript text with the recorded video timeline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548640" y="466344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6E2F0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31" name="Text 24"/>
          <p:cNvSpPr txBox="1"/>
          <p:nvPr/>
        </p:nvSpPr>
        <p:spPr>
          <a:xfrm>
            <a:off x="4846320" y="480060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endParaRPr lang="en-US" sz="3000" dirty="0"/>
          </a:p>
        </p:txBody>
      </p:sp>
      <p:sp>
        <p:nvSpPr>
          <p:cNvPr id="32" name="Text 25"/>
          <p:cNvSpPr txBox="1"/>
          <p:nvPr/>
        </p:nvSpPr>
        <p:spPr>
          <a:xfrm>
            <a:off x="977755" y="49011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Module</a:t>
            </a:r>
            <a:endParaRPr lang="en-US" sz="2000" dirty="0"/>
          </a:p>
        </p:txBody>
      </p:sp>
      <p:sp>
        <p:nvSpPr>
          <p:cNvPr id="33" name="Text 26"/>
          <p:cNvSpPr txBox="1"/>
          <p:nvPr/>
        </p:nvSpPr>
        <p:spPr>
          <a:xfrm>
            <a:off x="977755" y="5360081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transcripts into the user's preferred language</a:t>
            </a:r>
            <a:endParaRPr lang="en-US" sz="1500" dirty="0"/>
          </a:p>
        </p:txBody>
      </p:sp>
      <p:sp>
        <p:nvSpPr>
          <p:cNvPr id="34" name="Shape 27"/>
          <p:cNvSpPr/>
          <p:nvPr/>
        </p:nvSpPr>
        <p:spPr>
          <a:xfrm>
            <a:off x="6199632" y="466344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6E2F0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37" name="Text 29"/>
          <p:cNvSpPr txBox="1"/>
          <p:nvPr/>
        </p:nvSpPr>
        <p:spPr>
          <a:xfrm>
            <a:off x="10497312" y="480060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endParaRPr lang="en-US" sz="3000" dirty="0"/>
          </a:p>
        </p:txBody>
      </p:sp>
      <p:sp>
        <p:nvSpPr>
          <p:cNvPr id="38" name="Text 30"/>
          <p:cNvSpPr txBox="1"/>
          <p:nvPr/>
        </p:nvSpPr>
        <p:spPr>
          <a:xfrm>
            <a:off x="6573790" y="4935707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</a:t>
            </a:r>
            <a:endParaRPr lang="en-US" sz="2000" dirty="0"/>
          </a:p>
        </p:txBody>
      </p:sp>
      <p:sp>
        <p:nvSpPr>
          <p:cNvPr id="39" name="Text 31"/>
          <p:cNvSpPr txBox="1"/>
          <p:nvPr/>
        </p:nvSpPr>
        <p:spPr>
          <a:xfrm>
            <a:off x="6603461" y="527536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and generates downloadable translated documents</a:t>
            </a:r>
            <a:endParaRPr lang="en-US" sz="15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4ED702B-9AC3-DFCF-E065-0812ADE978D2}"/>
              </a:ext>
            </a:extLst>
          </p:cNvPr>
          <p:cNvSpPr/>
          <p:nvPr/>
        </p:nvSpPr>
        <p:spPr>
          <a:xfrm>
            <a:off x="548640" y="6513922"/>
            <a:ext cx="10588752" cy="1225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53035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417320" y="1965960"/>
            <a:ext cx="9354312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48640" y="2514600"/>
            <a:ext cx="1737360" cy="320040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6E2F0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1600200"/>
            <a:ext cx="731520" cy="731520"/>
          </a:xfrm>
          <a:prstGeom prst="ellipse">
            <a:avLst/>
          </a:prstGeom>
          <a:solidFill>
            <a:srgbClr val="1F6FEB"/>
          </a:solidFill>
          <a:ln w="38100">
            <a:solidFill>
              <a:srgbClr val="F4F8F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889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0120" y="3794760"/>
            <a:ext cx="914400" cy="0"/>
          </a:xfrm>
          <a:prstGeom prst="line">
            <a:avLst/>
          </a:prstGeom>
          <a:noFill/>
          <a:ln w="12700">
            <a:solidFill>
              <a:srgbClr val="D6E2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3931920"/>
            <a:ext cx="14081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functional and non-functional requirements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419502" y="2514600"/>
            <a:ext cx="1737360" cy="320040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6E2F0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22422" y="1600200"/>
            <a:ext cx="731520" cy="731520"/>
          </a:xfrm>
          <a:prstGeom prst="ellipse">
            <a:avLst/>
          </a:prstGeom>
          <a:solidFill>
            <a:srgbClr val="1F6FEB"/>
          </a:solidFill>
          <a:ln w="38100">
            <a:solidFill>
              <a:srgbClr val="F4F8F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556662" y="27889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830982" y="3794760"/>
            <a:ext cx="914400" cy="0"/>
          </a:xfrm>
          <a:prstGeom prst="line">
            <a:avLst/>
          </a:prstGeom>
          <a:noFill/>
          <a:ln w="12700">
            <a:solidFill>
              <a:srgbClr val="D6E2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84094" y="3931920"/>
            <a:ext cx="14081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Modeling, architecture, wireframes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290365" y="2514600"/>
            <a:ext cx="1737360" cy="320040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6E2F0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93285" y="1600200"/>
            <a:ext cx="731520" cy="731520"/>
          </a:xfrm>
          <a:prstGeom prst="ellipse">
            <a:avLst/>
          </a:prstGeom>
          <a:solidFill>
            <a:srgbClr val="1F6FEB"/>
          </a:solidFill>
          <a:ln w="38100">
            <a:solidFill>
              <a:srgbClr val="F4F8F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4427525" y="27889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Setup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701845" y="3794760"/>
            <a:ext cx="914400" cy="0"/>
          </a:xfrm>
          <a:prstGeom prst="line">
            <a:avLst/>
          </a:prstGeom>
          <a:noFill/>
          <a:ln w="12700">
            <a:solidFill>
              <a:srgbClr val="D6E2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54957" y="3931920"/>
            <a:ext cx="14081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meeting UI with HTML/CSS/JS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61227" y="2514600"/>
            <a:ext cx="1737360" cy="320040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6E2F0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64147" y="1600200"/>
            <a:ext cx="731520" cy="731520"/>
          </a:xfrm>
          <a:prstGeom prst="ellipse">
            <a:avLst/>
          </a:prstGeom>
          <a:solidFill>
            <a:srgbClr val="1F6FEB"/>
          </a:solidFill>
          <a:ln w="38100">
            <a:solidFill>
              <a:srgbClr val="F4F8F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6298387" y="27889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WebRTC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572707" y="3794760"/>
            <a:ext cx="914400" cy="0"/>
          </a:xfrm>
          <a:prstGeom prst="line">
            <a:avLst/>
          </a:prstGeom>
          <a:noFill/>
          <a:ln w="12700">
            <a:solidFill>
              <a:srgbClr val="D6E2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25819" y="3931920"/>
            <a:ext cx="14081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server, real-time media handling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032090" y="2514600"/>
            <a:ext cx="1737360" cy="320040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6E2F0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535010" y="1600200"/>
            <a:ext cx="731520" cy="731520"/>
          </a:xfrm>
          <a:prstGeom prst="ellipse">
            <a:avLst/>
          </a:prstGeom>
          <a:solidFill>
            <a:srgbClr val="1F6FEB"/>
          </a:solidFill>
          <a:ln w="38100">
            <a:solidFill>
              <a:srgbClr val="F4F8F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8169250" y="27889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Integration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443570" y="3794760"/>
            <a:ext cx="914400" cy="0"/>
          </a:xfrm>
          <a:prstGeom prst="line">
            <a:avLst/>
          </a:prstGeom>
          <a:noFill/>
          <a:ln w="12700">
            <a:solidFill>
              <a:srgbClr val="D6E2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196682" y="3931920"/>
            <a:ext cx="14081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ASR, subtitle sync, translation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902952" y="2514600"/>
            <a:ext cx="1737360" cy="320040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6E2F0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405872" y="1600200"/>
            <a:ext cx="731520" cy="731520"/>
          </a:xfrm>
          <a:prstGeom prst="ellipse">
            <a:avLst/>
          </a:prstGeom>
          <a:solidFill>
            <a:srgbClr val="1F6FEB"/>
          </a:solidFill>
          <a:ln w="38100">
            <a:solidFill>
              <a:srgbClr val="F4F8F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10040112" y="27889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Deployment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0314432" y="3794760"/>
            <a:ext cx="914400" cy="0"/>
          </a:xfrm>
          <a:prstGeom prst="line">
            <a:avLst/>
          </a:prstGeom>
          <a:noFill/>
          <a:ln w="12700">
            <a:solidFill>
              <a:srgbClr val="D6E2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067544" y="3931920"/>
            <a:ext cx="14081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Validate, refine and deploy the platform</a:t>
            </a:r>
            <a:endParaRPr lang="en-US" sz="15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2EF7674-093B-CE78-E695-32E8D4A4D752}"/>
              </a:ext>
            </a:extLst>
          </p:cNvPr>
          <p:cNvSpPr/>
          <p:nvPr/>
        </p:nvSpPr>
        <p:spPr>
          <a:xfrm>
            <a:off x="548640" y="6513922"/>
            <a:ext cx="10588752" cy="1225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53035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8632125"/>
              </p:ext>
            </p:extLst>
          </p:nvPr>
        </p:nvGraphicFramePr>
        <p:xfrm>
          <a:off x="548640" y="1371600"/>
          <a:ext cx="10817352" cy="4572000"/>
        </p:xfrm>
        <a:graphic>
          <a:graphicData uri="http://schemas.openxmlformats.org/drawingml/2006/table">
            <a:tbl>
              <a:tblPr/>
              <a:tblGrid>
                <a:gridCol w="2984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6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67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Login/Register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authentication successful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Meeting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 created successfully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Meeting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Participants able to join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Audio/Video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communication works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 content recorded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Transcription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converted to text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Summarization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 summary generated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 language output generated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Report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generated and downloaded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8778240" y="292608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5600" dirty="0"/>
          </a:p>
        </p:txBody>
      </p:sp>
      <p:sp>
        <p:nvSpPr>
          <p:cNvPr id="9" name="Text 5"/>
          <p:cNvSpPr txBox="1"/>
          <p:nvPr/>
        </p:nvSpPr>
        <p:spPr>
          <a:xfrm>
            <a:off x="9052560" y="3931920"/>
            <a:ext cx="2313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0747C8-3847-EF0E-6416-DAE65D5C1672}"/>
              </a:ext>
            </a:extLst>
          </p:cNvPr>
          <p:cNvSpPr/>
          <p:nvPr/>
        </p:nvSpPr>
        <p:spPr>
          <a:xfrm>
            <a:off x="548640" y="6513922"/>
            <a:ext cx="10588752" cy="1225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53035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5" name="Image 0" descr="/home/claude/work/media/s23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30061"/>
            <a:ext cx="5166360" cy="252355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2030061"/>
            <a:ext cx="5166360" cy="252355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6E2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493776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and sign-in</a:t>
            </a:r>
            <a:endParaRPr lang="en-US" sz="1600" dirty="0"/>
          </a:p>
        </p:txBody>
      </p:sp>
      <p:pic>
        <p:nvPicPr>
          <p:cNvPr id="9" name="Image 1" descr="/home/claude/work/media/s23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2024774"/>
            <a:ext cx="5166360" cy="25341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336792" y="2024774"/>
            <a:ext cx="5166360" cy="253413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6E2F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382512" y="493776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 (registration)</a:t>
            </a:r>
            <a:endParaRPr lang="en-US" sz="16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13FAAD-1A62-044C-96DF-C0A3310EEA97}"/>
              </a:ext>
            </a:extLst>
          </p:cNvPr>
          <p:cNvSpPr/>
          <p:nvPr/>
        </p:nvSpPr>
        <p:spPr>
          <a:xfrm>
            <a:off x="548640" y="6513922"/>
            <a:ext cx="10588752" cy="1225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53035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/>
              <a:t>SCREENSHOTS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5" name="Image 0" descr="/home/claude/work/media/s24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38801"/>
            <a:ext cx="5166360" cy="290607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838801"/>
            <a:ext cx="5166360" cy="2906078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6E2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493776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pic>
        <p:nvPicPr>
          <p:cNvPr id="9" name="Image 1" descr="/home/claude/work/media/s24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2059448"/>
            <a:ext cx="5166360" cy="246478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336792" y="2059448"/>
            <a:ext cx="5166360" cy="2464784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6E2F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382512" y="493776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room with participants and controls</a:t>
            </a:r>
            <a:endParaRPr lang="en-US" sz="16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59DA6C-4844-1C55-1E3B-1626B191C90E}"/>
              </a:ext>
            </a:extLst>
          </p:cNvPr>
          <p:cNvSpPr/>
          <p:nvPr/>
        </p:nvSpPr>
        <p:spPr>
          <a:xfrm>
            <a:off x="548640" y="6513922"/>
            <a:ext cx="10588752" cy="1225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53035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/>
              <a:t>SCREENSHOTS</a:t>
            </a: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5" name="Image 0" descr="/home/claude/work/media/s2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59448"/>
            <a:ext cx="5166360" cy="2464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2059448"/>
            <a:ext cx="5166360" cy="2464784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6E2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493776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room with recording active</a:t>
            </a:r>
            <a:endParaRPr lang="en-US" sz="1600" dirty="0"/>
          </a:p>
        </p:txBody>
      </p:sp>
      <p:pic>
        <p:nvPicPr>
          <p:cNvPr id="9" name="Image 1" descr="/home/claude/work/media/s25_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2006708"/>
            <a:ext cx="5166360" cy="25702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336792" y="2006708"/>
            <a:ext cx="5166360" cy="2570264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6E2F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382512" y="493776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processing status and meeting summary</a:t>
            </a:r>
            <a:endParaRPr lang="en-US" sz="16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6F3E82-DA5B-394A-922E-DC54ED9AEE72}"/>
              </a:ext>
            </a:extLst>
          </p:cNvPr>
          <p:cNvSpPr/>
          <p:nvPr/>
        </p:nvSpPr>
        <p:spPr>
          <a:xfrm>
            <a:off x="548640" y="6513922"/>
            <a:ext cx="10588752" cy="1225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53035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/>
              <a:t>SCREENSHOTS</a:t>
            </a: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5" name="Image 0" descr="/home/claude/work/media/s26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74516"/>
            <a:ext cx="5166360" cy="243464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2074516"/>
            <a:ext cx="5166360" cy="243464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6E2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493776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with translated PDF download options</a:t>
            </a:r>
            <a:endParaRPr lang="en-US" sz="1600" dirty="0"/>
          </a:p>
        </p:txBody>
      </p:sp>
      <p:pic>
        <p:nvPicPr>
          <p:cNvPr id="9" name="Image 1" descr="/home/claude/work/media/s26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1838801"/>
            <a:ext cx="5166360" cy="290607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336792" y="1838801"/>
            <a:ext cx="5166360" cy="2906078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6E2F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382512" y="493776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video playback with subtitles</a:t>
            </a:r>
            <a:endParaRPr lang="en-US" sz="16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314B16-5543-8B91-EB7E-CA2475E30096}"/>
              </a:ext>
            </a:extLst>
          </p:cNvPr>
          <p:cNvSpPr/>
          <p:nvPr/>
        </p:nvSpPr>
        <p:spPr>
          <a:xfrm>
            <a:off x="548640" y="6513922"/>
            <a:ext cx="10588752" cy="1225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53035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Existing System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4946904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SmartMeet AI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 Communication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Basic/Separate tools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 WebRTC communication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 manual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post-meeting processing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Transcription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require separate tool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Whisper-based transcription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Summarization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 manual/separate tool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AI-based summary generation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Subtitles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always available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subtitle generation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require separate service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 translation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documentation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Downloadable PDF report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Accessibility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external tools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Transcript, subtitles and translation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 Records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Recording may be separate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Recording with post-meeting processing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38100" marB="381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436F7AB2-E810-614D-AA24-1263B2952381}"/>
              </a:ext>
            </a:extLst>
          </p:cNvPr>
          <p:cNvSpPr/>
          <p:nvPr/>
        </p:nvSpPr>
        <p:spPr>
          <a:xfrm>
            <a:off x="548640" y="6513922"/>
            <a:ext cx="10588752" cy="1225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53035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484632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Result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Login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successful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Successful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Login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message displayed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displayed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Registration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created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created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Meeting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 created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Successfully created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Meeting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joins meeting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Successfully joined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Audio/Video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 established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Successful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Recording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Recording starts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Recording started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Transcription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Transcript generated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 generated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Translated output generated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Report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generated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2D1A5BD-6E06-D2C5-1690-18358E10E26A}"/>
              </a:ext>
            </a:extLst>
          </p:cNvPr>
          <p:cNvSpPr/>
          <p:nvPr/>
        </p:nvSpPr>
        <p:spPr>
          <a:xfrm>
            <a:off x="548640" y="6513922"/>
            <a:ext cx="10588752" cy="1225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CE9351-128C-E0D2-3E47-61E0CF4BD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6437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53035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103120" cy="1194318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6E2F0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85800" y="1719072"/>
            <a:ext cx="182880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 and video communication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795778" y="1371600"/>
            <a:ext cx="2103120" cy="1194318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6E2F0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2932938" y="1791478"/>
            <a:ext cx="1828800" cy="681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meeting creation and joining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042916" y="1371600"/>
            <a:ext cx="2103120" cy="1194318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6E2F0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5180076" y="179147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recording facility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7290054" y="1371600"/>
            <a:ext cx="2103120" cy="1194318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6E2F0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19" name="Text 13"/>
          <p:cNvSpPr txBox="1"/>
          <p:nvPr/>
        </p:nvSpPr>
        <p:spPr>
          <a:xfrm>
            <a:off x="7336754" y="179147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speech-to-text transcription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9537192" y="1371600"/>
            <a:ext cx="2103120" cy="1194318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6E2F0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23" name="Text 16"/>
          <p:cNvSpPr txBox="1"/>
          <p:nvPr/>
        </p:nvSpPr>
        <p:spPr>
          <a:xfrm>
            <a:off x="9674352" y="1791478"/>
            <a:ext cx="1828800" cy="107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meeting summarization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548640" y="3886200"/>
            <a:ext cx="2103120" cy="1194318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6E2F0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27" name="Text 19"/>
          <p:cNvSpPr txBox="1"/>
          <p:nvPr/>
        </p:nvSpPr>
        <p:spPr>
          <a:xfrm>
            <a:off x="685800" y="4230722"/>
            <a:ext cx="1828800" cy="1124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subtitle generation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2795778" y="3886200"/>
            <a:ext cx="2103120" cy="1194318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6E2F0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31" name="Text 22"/>
          <p:cNvSpPr txBox="1"/>
          <p:nvPr/>
        </p:nvSpPr>
        <p:spPr>
          <a:xfrm>
            <a:off x="2795778" y="4230722"/>
            <a:ext cx="1828800" cy="1124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translation support</a:t>
            </a:r>
            <a:endParaRPr lang="en-US" sz="1500" dirty="0"/>
          </a:p>
        </p:txBody>
      </p:sp>
      <p:sp>
        <p:nvSpPr>
          <p:cNvPr id="32" name="Shape 23"/>
          <p:cNvSpPr/>
          <p:nvPr/>
        </p:nvSpPr>
        <p:spPr>
          <a:xfrm>
            <a:off x="5042916" y="3886200"/>
            <a:ext cx="2103120" cy="1194318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6E2F0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35" name="Text 25"/>
          <p:cNvSpPr txBox="1"/>
          <p:nvPr/>
        </p:nvSpPr>
        <p:spPr>
          <a:xfrm>
            <a:off x="5180076" y="4230722"/>
            <a:ext cx="1828800" cy="1172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PDF meeting reports</a:t>
            </a:r>
            <a:endParaRPr lang="en-US" sz="1500" dirty="0"/>
          </a:p>
        </p:txBody>
      </p:sp>
      <p:sp>
        <p:nvSpPr>
          <p:cNvPr id="36" name="Shape 26"/>
          <p:cNvSpPr/>
          <p:nvPr/>
        </p:nvSpPr>
        <p:spPr>
          <a:xfrm>
            <a:off x="7290054" y="3886200"/>
            <a:ext cx="2103120" cy="1232236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6E2F0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39" name="Text 28"/>
          <p:cNvSpPr txBox="1"/>
          <p:nvPr/>
        </p:nvSpPr>
        <p:spPr>
          <a:xfrm>
            <a:off x="7427214" y="4230722"/>
            <a:ext cx="1828800" cy="770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meeting documentation</a:t>
            </a:r>
            <a:endParaRPr lang="en-US" sz="1500" dirty="0"/>
          </a:p>
        </p:txBody>
      </p:sp>
      <p:sp>
        <p:nvSpPr>
          <p:cNvPr id="40" name="Shape 29"/>
          <p:cNvSpPr/>
          <p:nvPr/>
        </p:nvSpPr>
        <p:spPr>
          <a:xfrm>
            <a:off x="9537192" y="3886200"/>
            <a:ext cx="2103120" cy="1194318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6E2F0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43" name="Text 31"/>
          <p:cNvSpPr txBox="1"/>
          <p:nvPr/>
        </p:nvSpPr>
        <p:spPr>
          <a:xfrm>
            <a:off x="9674352" y="416036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meeting and post-meeting processing</a:t>
            </a:r>
            <a:endParaRPr lang="en-US" sz="15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72D8502-D0F9-C22A-5248-379C48EA246D}"/>
              </a:ext>
            </a:extLst>
          </p:cNvPr>
          <p:cNvSpPr/>
          <p:nvPr/>
        </p:nvSpPr>
        <p:spPr>
          <a:xfrm>
            <a:off x="548640" y="6513922"/>
            <a:ext cx="10588752" cy="1225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53035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84448" cy="484632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9525">
            <a:solidFill>
              <a:srgbClr val="D6E2F0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1171832" y="1894114"/>
            <a:ext cx="3267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and audio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3035808" cy="0"/>
          </a:xfrm>
          <a:prstGeom prst="line">
            <a:avLst/>
          </a:prstGeom>
          <a:noFill/>
          <a:ln w="12700">
            <a:solidFill>
              <a:srgbClr val="D6E2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43000" y="260604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stable internet connectivity for WebRTC communication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3502152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quality affects transcription accuracy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4398264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noise can affect speech recognition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5294376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speech may reduce transcription quality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302252" y="1371600"/>
            <a:ext cx="3584448" cy="484632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9525">
            <a:solidFill>
              <a:srgbClr val="D6E2F0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4956654" y="1909399"/>
            <a:ext cx="32889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and storage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4576572" y="2423160"/>
            <a:ext cx="3035808" cy="0"/>
          </a:xfrm>
          <a:prstGeom prst="line">
            <a:avLst/>
          </a:prstGeom>
          <a:noFill/>
          <a:ln w="12700">
            <a:solidFill>
              <a:srgbClr val="D6E2F0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896612" y="260604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recordings require more processing time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4896612" y="3502152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recordings require additional storage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4896612" y="4398264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summary depends on transcript quality</a:t>
            </a:r>
            <a:endParaRPr lang="en-US" sz="1500" dirty="0"/>
          </a:p>
        </p:txBody>
      </p:sp>
      <p:sp>
        <p:nvSpPr>
          <p:cNvPr id="28" name="Shape 24"/>
          <p:cNvSpPr/>
          <p:nvPr/>
        </p:nvSpPr>
        <p:spPr>
          <a:xfrm>
            <a:off x="8055864" y="1371600"/>
            <a:ext cx="3584448" cy="484632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9525">
            <a:solidFill>
              <a:srgbClr val="D6E2F0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31" name="Text 26"/>
          <p:cNvSpPr txBox="1"/>
          <p:nvPr/>
        </p:nvSpPr>
        <p:spPr>
          <a:xfrm>
            <a:off x="8900004" y="1920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and scope</a:t>
            </a:r>
            <a:endParaRPr lang="en-US" sz="1800" dirty="0"/>
          </a:p>
        </p:txBody>
      </p:sp>
      <p:sp>
        <p:nvSpPr>
          <p:cNvPr id="32" name="Shape 27"/>
          <p:cNvSpPr/>
          <p:nvPr/>
        </p:nvSpPr>
        <p:spPr>
          <a:xfrm>
            <a:off x="8330184" y="2423160"/>
            <a:ext cx="3035808" cy="0"/>
          </a:xfrm>
          <a:prstGeom prst="line">
            <a:avLst/>
          </a:prstGeom>
          <a:noFill/>
          <a:ln w="12700">
            <a:solidFill>
              <a:srgbClr val="D6E2F0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8650224" y="260604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quality may vary between languages</a:t>
            </a:r>
            <a:endParaRPr lang="en-US" sz="1500" dirty="0"/>
          </a:p>
        </p:txBody>
      </p:sp>
      <p:sp>
        <p:nvSpPr>
          <p:cNvPr id="36" name="Text 31"/>
          <p:cNvSpPr txBox="1"/>
          <p:nvPr/>
        </p:nvSpPr>
        <p:spPr>
          <a:xfrm>
            <a:off x="8650224" y="3502152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speaker identification is limited</a:t>
            </a:r>
            <a:endParaRPr lang="en-US" sz="1500" dirty="0"/>
          </a:p>
        </p:txBody>
      </p:sp>
      <p:sp>
        <p:nvSpPr>
          <p:cNvPr id="38" name="Text 33"/>
          <p:cNvSpPr txBox="1"/>
          <p:nvPr/>
        </p:nvSpPr>
        <p:spPr>
          <a:xfrm>
            <a:off x="8650224" y="4398264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processing is mainly performed after the meeting</a:t>
            </a:r>
            <a:endParaRPr lang="en-US" sz="15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C678114-1B30-8E3D-C2A9-4F508223B74D}"/>
              </a:ext>
            </a:extLst>
          </p:cNvPr>
          <p:cNvSpPr/>
          <p:nvPr/>
        </p:nvSpPr>
        <p:spPr>
          <a:xfrm>
            <a:off x="548640" y="6513922"/>
            <a:ext cx="10588752" cy="1225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53035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406640" cy="822960"/>
          </a:xfrm>
          <a:prstGeom prst="roundRect">
            <a:avLst>
              <a:gd name="adj" fmla="val 13333"/>
            </a:avLst>
          </a:prstGeom>
          <a:solidFill>
            <a:srgbClr val="0F2747"/>
          </a:solidFill>
          <a:ln w="9525">
            <a:solidFill>
              <a:srgbClr val="1F4E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27048"/>
            <a:ext cx="512064" cy="512064"/>
          </a:xfrm>
          <a:prstGeom prst="ellipse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371600"/>
            <a:ext cx="6263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SmartMeet AI provides an intelligent platform for conducting online meetings.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7406640" cy="822960"/>
          </a:xfrm>
          <a:prstGeom prst="roundRect">
            <a:avLst>
              <a:gd name="adj" fmla="val 13333"/>
            </a:avLst>
          </a:prstGeom>
          <a:solidFill>
            <a:srgbClr val="0F2747"/>
          </a:solidFill>
          <a:ln w="9525">
            <a:solidFill>
              <a:srgbClr val="1F4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487168"/>
            <a:ext cx="512064" cy="512064"/>
          </a:xfrm>
          <a:prstGeom prst="ellipse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331720"/>
            <a:ext cx="6263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supports real-time video conferencing and communication using WebRTC.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7406640" cy="822960"/>
          </a:xfrm>
          <a:prstGeom prst="roundRect">
            <a:avLst>
              <a:gd name="adj" fmla="val 13333"/>
            </a:avLst>
          </a:prstGeom>
          <a:solidFill>
            <a:srgbClr val="0F2747"/>
          </a:solidFill>
          <a:ln w="9525">
            <a:solidFill>
              <a:srgbClr val="1F4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447288"/>
            <a:ext cx="512064" cy="512064"/>
          </a:xfrm>
          <a:prstGeom prst="ellipse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291840"/>
            <a:ext cx="6263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audio can be converted into text using AI-based speech recognition.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7406640" cy="822960"/>
          </a:xfrm>
          <a:prstGeom prst="roundRect">
            <a:avLst>
              <a:gd name="adj" fmla="val 13333"/>
            </a:avLst>
          </a:prstGeom>
          <a:solidFill>
            <a:srgbClr val="0F2747"/>
          </a:solidFill>
          <a:ln w="9525">
            <a:solidFill>
              <a:srgbClr val="1F4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407408"/>
            <a:ext cx="512064" cy="512064"/>
          </a:xfrm>
          <a:prstGeom prst="ellipse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4251960"/>
            <a:ext cx="6263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provides multilingual subtitles and translation for better accessibility.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7406640" cy="822960"/>
          </a:xfrm>
          <a:prstGeom prst="roundRect">
            <a:avLst>
              <a:gd name="adj" fmla="val 13333"/>
            </a:avLst>
          </a:prstGeom>
          <a:solidFill>
            <a:srgbClr val="0F2747"/>
          </a:solidFill>
          <a:ln w="9525">
            <a:solidFill>
              <a:srgbClr val="1F4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367528"/>
            <a:ext cx="512064" cy="512064"/>
          </a:xfrm>
          <a:prstGeom prst="ellipse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5212080"/>
            <a:ext cx="6263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transcripts can be summarized and exported for future reference.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229600" y="1371600"/>
            <a:ext cx="3410712" cy="2587752"/>
          </a:xfrm>
          <a:prstGeom prst="roundRect">
            <a:avLst>
              <a:gd name="adj" fmla="val 4290"/>
            </a:avLst>
          </a:prstGeom>
          <a:solidFill>
            <a:srgbClr val="1F6FEB"/>
          </a:solidFill>
          <a:ln w="6350">
            <a:solidFill>
              <a:srgbClr val="1F6FE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549640" y="1875454"/>
            <a:ext cx="2770632" cy="191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Overall, SmartMeet AI helps make meetings more efficient, accessible and organized.</a:t>
            </a:r>
            <a:endParaRPr lang="en-US" sz="22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8CF7AC-8647-A92A-6298-2ED101A1AB59}"/>
              </a:ext>
            </a:extLst>
          </p:cNvPr>
          <p:cNvSpPr/>
          <p:nvPr/>
        </p:nvSpPr>
        <p:spPr>
          <a:xfrm>
            <a:off x="548640" y="6513922"/>
            <a:ext cx="10588752" cy="12254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53035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874520" y="1783080"/>
            <a:ext cx="8439912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1600200" y="1508760"/>
            <a:ext cx="548640" cy="548640"/>
          </a:xfrm>
          <a:prstGeom prst="ellipse">
            <a:avLst/>
          </a:prstGeom>
          <a:solidFill>
            <a:srgbClr val="1F6FEB"/>
          </a:solidFill>
          <a:ln w="38100">
            <a:solidFill>
              <a:srgbClr val="F4F8F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651760" cy="38862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6E2F0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2468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and Language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3063240"/>
            <a:ext cx="2194560" cy="0"/>
          </a:xfrm>
          <a:prstGeom prst="line">
            <a:avLst/>
          </a:prstGeom>
          <a:noFill/>
          <a:ln w="12700">
            <a:solidFill>
              <a:srgbClr val="D6E2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3291840"/>
            <a:ext cx="137160" cy="137160"/>
          </a:xfrm>
          <a:prstGeom prst="ellipse">
            <a:avLst/>
          </a:prstGeom>
          <a:solidFill>
            <a:srgbClr val="22D3EE"/>
          </a:solidFill>
          <a:ln w="9525">
            <a:solidFill>
              <a:srgbClr val="1F6F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32004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speech transcription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5528" y="4005072"/>
            <a:ext cx="137160" cy="137160"/>
          </a:xfrm>
          <a:prstGeom prst="ellipse">
            <a:avLst/>
          </a:prstGeom>
          <a:solidFill>
            <a:srgbClr val="22D3EE"/>
          </a:solidFill>
          <a:ln w="9525">
            <a:solidFill>
              <a:srgbClr val="1F6F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391363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speaker diarization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5528" y="4718304"/>
            <a:ext cx="137160" cy="137160"/>
          </a:xfrm>
          <a:prstGeom prst="ellipse">
            <a:avLst/>
          </a:prstGeom>
          <a:solidFill>
            <a:srgbClr val="22D3EE"/>
          </a:solidFill>
          <a:ln w="9525">
            <a:solidFill>
              <a:srgbClr val="1F6F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4626864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multilingual speech recognition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13504" y="1508760"/>
            <a:ext cx="548640" cy="548640"/>
          </a:xfrm>
          <a:prstGeom prst="ellipse">
            <a:avLst/>
          </a:prstGeom>
          <a:solidFill>
            <a:srgbClr val="1F6FEB"/>
          </a:solidFill>
          <a:ln w="38100">
            <a:solidFill>
              <a:srgbClr val="F4F8F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361944" y="2331720"/>
            <a:ext cx="2651760" cy="38862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6E2F0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590544" y="2468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Intelligence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590544" y="3063240"/>
            <a:ext cx="2194560" cy="0"/>
          </a:xfrm>
          <a:prstGeom prst="line">
            <a:avLst/>
          </a:prstGeom>
          <a:noFill/>
          <a:ln w="12700">
            <a:solidFill>
              <a:srgbClr val="D6E2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08832" y="3291840"/>
            <a:ext cx="137160" cy="137160"/>
          </a:xfrm>
          <a:prstGeom prst="ellipse">
            <a:avLst/>
          </a:prstGeom>
          <a:solidFill>
            <a:srgbClr val="22D3EE"/>
          </a:solidFill>
          <a:ln w="9525">
            <a:solidFill>
              <a:srgbClr val="1F6F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10584" y="32004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action-item extraction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08832" y="4005072"/>
            <a:ext cx="137160" cy="137160"/>
          </a:xfrm>
          <a:prstGeom prst="ellipse">
            <a:avLst/>
          </a:prstGeom>
          <a:solidFill>
            <a:srgbClr val="22D3EE"/>
          </a:solidFill>
          <a:ln w="9525">
            <a:solidFill>
              <a:srgbClr val="1F6F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910584" y="391363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identification of decisions and key points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08832" y="4718304"/>
            <a:ext cx="137160" cy="137160"/>
          </a:xfrm>
          <a:prstGeom prst="ellipse">
            <a:avLst/>
          </a:prstGeom>
          <a:solidFill>
            <a:srgbClr val="22D3EE"/>
          </a:solidFill>
          <a:ln w="9525">
            <a:solidFill>
              <a:srgbClr val="1F6F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910584" y="4626864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 meeting assistant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08832" y="5431536"/>
            <a:ext cx="137160" cy="137160"/>
          </a:xfrm>
          <a:prstGeom prst="ellipse">
            <a:avLst/>
          </a:prstGeom>
          <a:solidFill>
            <a:srgbClr val="22D3EE"/>
          </a:solidFill>
          <a:ln w="9525">
            <a:solidFill>
              <a:srgbClr val="1F6F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910584" y="5340096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AI-based meeting analytics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26808" y="1508760"/>
            <a:ext cx="548640" cy="548640"/>
          </a:xfrm>
          <a:prstGeom prst="ellipse">
            <a:avLst/>
          </a:prstGeom>
          <a:solidFill>
            <a:srgbClr val="1F6FEB"/>
          </a:solidFill>
          <a:ln w="38100">
            <a:solidFill>
              <a:srgbClr val="F4F8F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175248" y="2331720"/>
            <a:ext cx="2651760" cy="38862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6E2F0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403848" y="2468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Experience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403848" y="3063240"/>
            <a:ext cx="2194560" cy="0"/>
          </a:xfrm>
          <a:prstGeom prst="line">
            <a:avLst/>
          </a:prstGeom>
          <a:noFill/>
          <a:ln w="12700">
            <a:solidFill>
              <a:srgbClr val="D6E2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22136" y="3291840"/>
            <a:ext cx="137160" cy="137160"/>
          </a:xfrm>
          <a:prstGeom prst="ellipse">
            <a:avLst/>
          </a:prstGeom>
          <a:solidFill>
            <a:srgbClr val="22D3EE"/>
          </a:solidFill>
          <a:ln w="9525">
            <a:solidFill>
              <a:srgbClr val="1F6FE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723888" y="32004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and meeting reminder integration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22136" y="4005072"/>
            <a:ext cx="137160" cy="137160"/>
          </a:xfrm>
          <a:prstGeom prst="ellipse">
            <a:avLst/>
          </a:prstGeom>
          <a:solidFill>
            <a:srgbClr val="22D3EE"/>
          </a:solidFill>
          <a:ln w="9525">
            <a:solidFill>
              <a:srgbClr val="1F6F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723888" y="391363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participant controls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040112" y="1508760"/>
            <a:ext cx="548640" cy="548640"/>
          </a:xfrm>
          <a:prstGeom prst="ellipse">
            <a:avLst/>
          </a:prstGeom>
          <a:solidFill>
            <a:srgbClr val="1F6FEB"/>
          </a:solidFill>
          <a:ln w="38100">
            <a:solidFill>
              <a:srgbClr val="F4F8F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8988552" y="2331720"/>
            <a:ext cx="2651760" cy="38862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6E2F0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9217152" y="2468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and Scale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217152" y="3063240"/>
            <a:ext cx="2194560" cy="0"/>
          </a:xfrm>
          <a:prstGeom prst="line">
            <a:avLst/>
          </a:prstGeom>
          <a:noFill/>
          <a:ln w="12700">
            <a:solidFill>
              <a:srgbClr val="D6E2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235440" y="3291840"/>
            <a:ext cx="137160" cy="137160"/>
          </a:xfrm>
          <a:prstGeom prst="ellipse">
            <a:avLst/>
          </a:prstGeom>
          <a:solidFill>
            <a:srgbClr val="22D3EE"/>
          </a:solidFill>
          <a:ln w="9525">
            <a:solidFill>
              <a:srgbClr val="1F6FE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537192" y="32004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meeting storage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9235440" y="4005072"/>
            <a:ext cx="137160" cy="137160"/>
          </a:xfrm>
          <a:prstGeom prst="ellipse">
            <a:avLst/>
          </a:prstGeom>
          <a:solidFill>
            <a:srgbClr val="22D3EE"/>
          </a:solidFill>
          <a:ln w="9525">
            <a:solidFill>
              <a:srgbClr val="1F6FE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537192" y="391363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scalability for large meetings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9235440" y="4718304"/>
            <a:ext cx="137160" cy="137160"/>
          </a:xfrm>
          <a:prstGeom prst="ellipse">
            <a:avLst/>
          </a:prstGeom>
          <a:solidFill>
            <a:srgbClr val="22D3EE"/>
          </a:solidFill>
          <a:ln w="9525">
            <a:solidFill>
              <a:srgbClr val="1F6FE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537192" y="4626864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support</a:t>
            </a:r>
            <a:endParaRPr lang="en-US" sz="14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CD2B6E8-B32D-4591-1CC4-A1E3A710E2AE}"/>
              </a:ext>
            </a:extLst>
          </p:cNvPr>
          <p:cNvSpPr/>
          <p:nvPr/>
        </p:nvSpPr>
        <p:spPr>
          <a:xfrm>
            <a:off x="548640" y="6513922"/>
            <a:ext cx="10588752" cy="1225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9264E-DA9C-01DF-6985-DF21CB391A01}"/>
              </a:ext>
            </a:extLst>
          </p:cNvPr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73E1E3-CCE5-BBD5-B5C5-DD4A2D08BA0C}"/>
              </a:ext>
            </a:extLst>
          </p:cNvPr>
          <p:cNvSpPr txBox="1"/>
          <p:nvPr/>
        </p:nvSpPr>
        <p:spPr>
          <a:xfrm>
            <a:off x="615820" y="1114937"/>
            <a:ext cx="1109167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[1] M. </a:t>
            </a:r>
            <a:r>
              <a:rPr lang="en-IN" dirty="0" err="1"/>
              <a:t>Picheny</a:t>
            </a:r>
            <a:r>
              <a:rPr lang="en-IN" dirty="0"/>
              <a:t> and R. Zhang, “Robust multilingual speech recognition and transcription using OpenAI Whisper in modern web applications,” IEEE Transactions on Audio, Speech, and Language Processing, vol. 34, pp. 1120–1132, 2026.</a:t>
            </a:r>
          </a:p>
          <a:p>
            <a:endParaRPr lang="en-IN" dirty="0"/>
          </a:p>
          <a:p>
            <a:r>
              <a:rPr lang="en-IN" dirty="0"/>
              <a:t>[2] S. Wang, L. Chen, and H. Zhao, “Real-time peer-to-peer audio and video streaming architectures using WebRTC for interactive meeting platforms,” Journal of Systems and Software, Elsevier, vol. 222, pp. 112150, 2025.</a:t>
            </a:r>
          </a:p>
          <a:p>
            <a:endParaRPr lang="en-IN" dirty="0"/>
          </a:p>
          <a:p>
            <a:r>
              <a:rPr lang="en-IN" dirty="0"/>
              <a:t>[3] R. Patel, K. Gupta, and T. Baker, “AI-driven conversational summarization and action-item extraction frameworks for collaborative meetings,” IEEE Access, vol. 14, pp. 15200–15215, 2026.</a:t>
            </a:r>
          </a:p>
          <a:p>
            <a:endParaRPr lang="en-IN" dirty="0"/>
          </a:p>
          <a:p>
            <a:r>
              <a:rPr lang="en-IN" dirty="0"/>
              <a:t>[4] D. Martinez, A. Al-Mansoor, and E. Rossi, “Cross-lingual neural machine translation and subtitle alignment pipelines in cloud-based communication tools,” Computers &amp; Security, Elsevier, vol. 148, pp. 104120, 2025.</a:t>
            </a:r>
          </a:p>
          <a:p>
            <a:endParaRPr lang="en-IN" dirty="0"/>
          </a:p>
          <a:p>
            <a:r>
              <a:rPr lang="en-IN" dirty="0"/>
              <a:t>[5] K. Thorne, J. Davis, and M. Taylor, “Automated document structuring and secure PDF generation for multimedia meeting archival systems,” IEEE/ACM Transactions on Audio, Speech, and Language Processing, vol. 33, pp. 910–922, 2025.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43C293-84E7-1AEF-7052-BB5D7AAFFA38}"/>
              </a:ext>
            </a:extLst>
          </p:cNvPr>
          <p:cNvSpPr/>
          <p:nvPr/>
        </p:nvSpPr>
        <p:spPr>
          <a:xfrm>
            <a:off x="548640" y="6513922"/>
            <a:ext cx="10588752" cy="1225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0200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828800"/>
            <a:ext cx="7772400" cy="7772400"/>
          </a:xfrm>
          <a:prstGeom prst="ellipse">
            <a:avLst/>
          </a:prstGeom>
          <a:solidFill>
            <a:srgbClr val="0F2747">
              <a:alpha val="60000"/>
            </a:srgbClr>
          </a:solidFill>
          <a:ln w="6350">
            <a:solidFill>
              <a:srgbClr val="0F27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011680" y="4754880"/>
            <a:ext cx="4754880" cy="4754880"/>
          </a:xfrm>
          <a:prstGeom prst="ellipse">
            <a:avLst/>
          </a:prstGeom>
          <a:solidFill>
            <a:srgbClr val="0F2747">
              <a:alpha val="45000"/>
            </a:srgbClr>
          </a:solidFill>
          <a:ln w="6350">
            <a:solidFill>
              <a:srgbClr val="0F274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6760" y="20574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3246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SmartMeet AI</a:t>
            </a:r>
            <a:endParaRPr lang="en-US" sz="3600" dirty="0"/>
          </a:p>
        </p:txBody>
      </p:sp>
      <p:sp>
        <p:nvSpPr>
          <p:cNvPr id="26" name="Shape 24"/>
          <p:cNvSpPr/>
          <p:nvPr/>
        </p:nvSpPr>
        <p:spPr>
          <a:xfrm>
            <a:off x="822960" y="4160520"/>
            <a:ext cx="3200400" cy="0"/>
          </a:xfrm>
          <a:prstGeom prst="line">
            <a:avLst/>
          </a:prstGeom>
          <a:noFill/>
          <a:ln w="15875">
            <a:solidFill>
              <a:srgbClr val="1F4E8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4389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956</TotalTime>
  <Words>1996</Words>
  <Application>Microsoft Office PowerPoint</Application>
  <PresentationFormat>Widescreen</PresentationFormat>
  <Paragraphs>464</Paragraphs>
  <Slides>35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Calibri</vt:lpstr>
      <vt:lpstr>Cambria</vt:lpstr>
      <vt:lpstr>Google Sans Text</vt:lpstr>
      <vt:lpstr>Wingdings</vt:lpstr>
      <vt:lpstr>Office Theme</vt:lpstr>
      <vt:lpstr>PowerPoint Presentation</vt:lpstr>
      <vt:lpstr>INTRODUCTION</vt:lpstr>
      <vt:lpstr>ABSTRACT – SMARTMEET AI </vt:lpstr>
      <vt:lpstr>PROBLEM STATEMENT</vt:lpstr>
      <vt:lpstr>Objectives</vt:lpstr>
      <vt:lpstr>EXISTING SYSTEM</vt:lpstr>
      <vt:lpstr>PROPOSED SYSTEM</vt:lpstr>
      <vt:lpstr>PROJECT SCOPE</vt:lpstr>
      <vt:lpstr>LITERATURE REVIEW</vt:lpstr>
      <vt:lpstr>TECHNOLOGY STACK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SYSTEM MODULES</vt:lpstr>
      <vt:lpstr>Methodology</vt:lpstr>
      <vt:lpstr>RESULTS</vt:lpstr>
      <vt:lpstr>SCREENSHOTS</vt:lpstr>
      <vt:lpstr>SCREENSHOTS</vt:lpstr>
      <vt:lpstr>SCREENSHOTS </vt:lpstr>
      <vt:lpstr>SCREENSHOTS </vt:lpstr>
      <vt:lpstr>Comparison with Existing System</vt:lpstr>
      <vt:lpstr>Testing</vt:lpstr>
      <vt:lpstr>PowerPoint Presentation</vt:lpstr>
      <vt:lpstr>ADVANTAGES</vt:lpstr>
      <vt:lpstr>LIMITATIONS</vt:lpstr>
      <vt:lpstr>CONCLUSON</vt:lpstr>
      <vt:lpstr>Future Scope</vt:lpstr>
      <vt:lpstr>REFERENCES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SmartMeet AI - Interim 1 Review</dc:title>
  <dc:subject>MCA Project Interim Review</dc:subject>
  <dc:creator>Archana Satheesh</dc:creator>
  <cp:lastModifiedBy>Abhishikth S Siby</cp:lastModifiedBy>
  <cp:revision>11</cp:revision>
  <dcterms:created xsi:type="dcterms:W3CDTF">2026-10-03T02:53:58Z</dcterms:created>
  <dcterms:modified xsi:type="dcterms:W3CDTF">2026-10-15T08:40:18Z</dcterms:modified>
</cp:coreProperties>
</file>